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Oswald Medium"/>
      <p:regular r:id="rId22"/>
      <p:bold r:id="rId23"/>
    </p:embeddedFont>
    <p:embeddedFont>
      <p:font typeface="Average"/>
      <p:regular r:id="rId24"/>
    </p:embeddedFont>
    <p:embeddedFont>
      <p:font typeface="Oswald"/>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OswaldMedium-regular.fntdata"/><Relationship Id="rId21" Type="http://schemas.openxmlformats.org/officeDocument/2006/relationships/slide" Target="slides/slide16.xml"/><Relationship Id="rId24" Type="http://schemas.openxmlformats.org/officeDocument/2006/relationships/font" Target="fonts/Average-regular.fntdata"/><Relationship Id="rId23" Type="http://schemas.openxmlformats.org/officeDocument/2006/relationships/font" Target="fonts/Oswald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swald-bold.fntdata"/><Relationship Id="rId25"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80f9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80f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dfd029ed5_0_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dfd029ed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c6f980f91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c6f980f9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c6f980f91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c6f980f9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c6f980f91_0_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c6f980f9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c6f980f91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c6f980f9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c6f980f91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c6f980f9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c6f980f91_0_4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c6f980f9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4dfd029ed5_0_5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4dfd029ed5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dfd029ed5_0_4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4dfd029ed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4dfd029ed5_0_6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4dfd029ed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4dfd029ed5_0_8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4dfd029ed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4dfd029ed5_0_9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4dfd029ed5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c6f980f91_0_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c6f980f9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c6f980f91_0_10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c6f980f91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c6f980f91_0_1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c6f980f91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hyperlink" Target="https://corgis-edu.github.io/corgis/csv/wind_turbines/" TargetMode="External"/><Relationship Id="rId5" Type="http://schemas.openxmlformats.org/officeDocument/2006/relationships/hyperlink" Target="https://corgis-edu.github.io/corgis/csv/wind_turbine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6.gif"/><Relationship Id="rId5"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hyperlink" Target="https://capstone1-visualization.netlify.app/" TargetMode="External"/><Relationship Id="rId5" Type="http://schemas.openxmlformats.org/officeDocument/2006/relationships/hyperlink" Target="https://capstone1-visualization.netlify.app/" TargetMode="External"/><Relationship Id="rId6" Type="http://schemas.openxmlformats.org/officeDocument/2006/relationships/hyperlink" Target="https://capstone1-visualization.netlify.app/" TargetMode="External"/><Relationship Id="rId7" Type="http://schemas.openxmlformats.org/officeDocument/2006/relationships/hyperlink" Target="https://capstone1-visualization.netlify.app/"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hyperlink" Target="https://github.com/helenzhupnyk" TargetMode="External"/><Relationship Id="rId4" Type="http://schemas.openxmlformats.org/officeDocument/2006/relationships/hyperlink" Target="https://www.linkedin.com/in/helenzhupnyk/" TargetMode="External"/><Relationship Id="rId5" Type="http://schemas.openxmlformats.org/officeDocument/2006/relationships/hyperlink" Target="mailto:mariia.olena.zhupnyk@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sp>
        <p:nvSpPr>
          <p:cNvPr id="59" name="Google Shape;59;p13"/>
          <p:cNvSpPr txBox="1"/>
          <p:nvPr>
            <p:ph type="title"/>
          </p:nvPr>
        </p:nvSpPr>
        <p:spPr>
          <a:xfrm>
            <a:off x="307950" y="1531400"/>
            <a:ext cx="4045200" cy="171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Wind Turbines in the U.S.</a:t>
            </a:r>
            <a:endParaRPr/>
          </a:p>
        </p:txBody>
      </p:sp>
      <p:sp>
        <p:nvSpPr>
          <p:cNvPr id="60" name="Google Shape;60;p13"/>
          <p:cNvSpPr txBox="1"/>
          <p:nvPr>
            <p:ph idx="1" type="subTitle"/>
          </p:nvPr>
        </p:nvSpPr>
        <p:spPr>
          <a:xfrm>
            <a:off x="4939500" y="3461900"/>
            <a:ext cx="3780600" cy="644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200">
                <a:solidFill>
                  <a:schemeClr val="lt1"/>
                </a:solidFill>
              </a:rPr>
              <a:t>Mariia-Olena Zhupnyk</a:t>
            </a:r>
            <a:endParaRPr sz="2200">
              <a:solidFill>
                <a:schemeClr val="lt1"/>
              </a:solidFill>
            </a:endParaRPr>
          </a:p>
          <a:p>
            <a:pPr indent="0" lvl="0" marL="0" rtl="0" algn="l">
              <a:lnSpc>
                <a:spcPct val="115000"/>
              </a:lnSpc>
              <a:spcBef>
                <a:spcPts val="1600"/>
              </a:spcBef>
              <a:spcAft>
                <a:spcPts val="1600"/>
              </a:spcAft>
              <a:buNone/>
            </a:pPr>
            <a:r>
              <a:rPr lang="en" sz="1400">
                <a:solidFill>
                  <a:srgbClr val="37474F"/>
                </a:solidFill>
              </a:rPr>
              <a:t>Apr 21, 2025</a:t>
            </a:r>
            <a:endParaRPr sz="1400"/>
          </a:p>
        </p:txBody>
      </p:sp>
      <p:sp>
        <p:nvSpPr>
          <p:cNvPr id="61" name="Google Shape;61;p13"/>
          <p:cNvSpPr txBox="1"/>
          <p:nvPr>
            <p:ph idx="2" type="body"/>
          </p:nvPr>
        </p:nvSpPr>
        <p:spPr>
          <a:xfrm>
            <a:off x="4911300" y="1114850"/>
            <a:ext cx="3837000" cy="16434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sz="2400">
                <a:latin typeface="Oswald Medium"/>
                <a:ea typeface="Oswald Medium"/>
                <a:cs typeface="Oswald Medium"/>
                <a:sym typeface="Oswald Medium"/>
              </a:rPr>
              <a:t>Data Analysis &amp; Visualization Capstone Project </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2778900" y="521425"/>
            <a:ext cx="3586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Goals of the Project</a:t>
            </a:r>
            <a:endParaRPr/>
          </a:p>
        </p:txBody>
      </p:sp>
      <p:sp>
        <p:nvSpPr>
          <p:cNvPr id="67" name="Google Shape;67;p14"/>
          <p:cNvSpPr txBox="1"/>
          <p:nvPr>
            <p:ph idx="1" type="body"/>
          </p:nvPr>
        </p:nvSpPr>
        <p:spPr>
          <a:xfrm>
            <a:off x="311700" y="1152475"/>
            <a:ext cx="6175800" cy="3416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sz="2400"/>
              <a:t>In this project I analyzed U.S. wind turbine data to identify trends in turbine capacity, technology development, and geographic distribution over time, using interactive visualizations to present key insights.</a:t>
            </a:r>
            <a:endParaRPr sz="2400"/>
          </a:p>
          <a:p>
            <a:pPr indent="0" lvl="0" marL="0" rtl="0" algn="l">
              <a:spcBef>
                <a:spcPts val="1600"/>
              </a:spcBef>
              <a:spcAft>
                <a:spcPts val="1600"/>
              </a:spcAft>
              <a:buNone/>
            </a:pPr>
            <a:r>
              <a:t/>
            </a:r>
            <a:endParaRPr/>
          </a:p>
        </p:txBody>
      </p:sp>
      <p:pic>
        <p:nvPicPr>
          <p:cNvPr descr="A row of wind turbines in sunny rural France - clean renewable energy (Provided by Getty Images)" id="68" name="Google Shape;68;p14"/>
          <p:cNvPicPr preferRelativeResize="0"/>
          <p:nvPr/>
        </p:nvPicPr>
        <p:blipFill>
          <a:blip r:embed="rId3">
            <a:alphaModFix/>
          </a:blip>
          <a:stretch>
            <a:fillRect/>
          </a:stretch>
        </p:blipFill>
        <p:spPr>
          <a:xfrm>
            <a:off x="5805575" y="2862975"/>
            <a:ext cx="2798218" cy="1865023"/>
          </a:xfrm>
          <a:prstGeom prst="rect">
            <a:avLst/>
          </a:prstGeom>
          <a:noFill/>
          <a:ln>
            <a:noFill/>
          </a:ln>
        </p:spPr>
      </p:pic>
      <p:sp>
        <p:nvSpPr>
          <p:cNvPr id="69" name="Google Shape;69;p14"/>
          <p:cNvSpPr txBox="1"/>
          <p:nvPr/>
        </p:nvSpPr>
        <p:spPr>
          <a:xfrm>
            <a:off x="5696100" y="4728000"/>
            <a:ext cx="34479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500">
                <a:solidFill>
                  <a:schemeClr val="dk1"/>
                </a:solidFill>
                <a:latin typeface="Average"/>
                <a:ea typeface="Average"/>
                <a:cs typeface="Average"/>
                <a:sym typeface="Average"/>
              </a:rPr>
              <a:t>Mariia-Olena Zhupnyk - </a:t>
            </a:r>
            <a:r>
              <a:rPr lang="en" sz="700">
                <a:solidFill>
                  <a:schemeClr val="dk1"/>
                </a:solidFill>
                <a:latin typeface="Average"/>
                <a:ea typeface="Average"/>
                <a:cs typeface="Average"/>
                <a:sym typeface="Average"/>
              </a:rPr>
              <a:t>Apr 21, 2025</a:t>
            </a:r>
            <a:endParaRPr sz="700">
              <a:solidFill>
                <a:schemeClr val="dk1"/>
              </a:solidFill>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Understanding the problem</a:t>
            </a:r>
            <a:endParaRPr/>
          </a:p>
        </p:txBody>
      </p:sp>
      <p:grpSp>
        <p:nvGrpSpPr>
          <p:cNvPr id="75" name="Google Shape;75;p15"/>
          <p:cNvGrpSpPr/>
          <p:nvPr/>
        </p:nvGrpSpPr>
        <p:grpSpPr>
          <a:xfrm>
            <a:off x="431925" y="1304875"/>
            <a:ext cx="2628925" cy="3416400"/>
            <a:chOff x="431925" y="1304875"/>
            <a:chExt cx="2628925" cy="3416400"/>
          </a:xfrm>
        </p:grpSpPr>
        <p:sp>
          <p:nvSpPr>
            <p:cNvPr id="76" name="Google Shape;76;p15"/>
            <p:cNvSpPr txBox="1"/>
            <p:nvPr/>
          </p:nvSpPr>
          <p:spPr>
            <a:xfrm>
              <a:off x="431925"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a:off x="4319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 name="Google Shape;78;p15"/>
          <p:cNvSpPr txBox="1"/>
          <p:nvPr>
            <p:ph idx="4294967295" type="body"/>
          </p:nvPr>
        </p:nvSpPr>
        <p:spPr>
          <a:xfrm>
            <a:off x="506425"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Why Wind Energy?</a:t>
            </a:r>
            <a:endParaRPr>
              <a:solidFill>
                <a:schemeClr val="lt1"/>
              </a:solidFill>
            </a:endParaRPr>
          </a:p>
        </p:txBody>
      </p:sp>
      <p:sp>
        <p:nvSpPr>
          <p:cNvPr id="79" name="Google Shape;79;p15"/>
          <p:cNvSpPr txBox="1"/>
          <p:nvPr>
            <p:ph idx="4294967295" type="body"/>
          </p:nvPr>
        </p:nvSpPr>
        <p:spPr>
          <a:xfrm>
            <a:off x="508325" y="1850300"/>
            <a:ext cx="2478600" cy="27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Wind energy is one of the fastest-growing sources of renewable power in the world. </a:t>
            </a:r>
            <a:endParaRPr sz="1200"/>
          </a:p>
          <a:p>
            <a:pPr indent="0" lvl="0" marL="0" rtl="0" algn="l">
              <a:spcBef>
                <a:spcPts val="1600"/>
              </a:spcBef>
              <a:spcAft>
                <a:spcPts val="0"/>
              </a:spcAft>
              <a:buNone/>
            </a:pPr>
            <a:r>
              <a:rPr lang="en" sz="1200"/>
              <a:t>It helps reduce greenhouse gas emissions, decreases reliance on fossil fuels, and supports energy sustainability goals.</a:t>
            </a:r>
            <a:endParaRPr sz="1200"/>
          </a:p>
          <a:p>
            <a:pPr indent="0" lvl="0" marL="0" rtl="0" algn="l">
              <a:spcBef>
                <a:spcPts val="1600"/>
              </a:spcBef>
              <a:spcAft>
                <a:spcPts val="1600"/>
              </a:spcAft>
              <a:buNone/>
            </a:pPr>
            <a:r>
              <a:rPr lang="en" sz="1200"/>
              <a:t> In the U.S., thousands of wind turbines are already installed across many states, but their distribution and capacity vary widely</a:t>
            </a:r>
            <a:endParaRPr sz="1200"/>
          </a:p>
        </p:txBody>
      </p:sp>
      <p:grpSp>
        <p:nvGrpSpPr>
          <p:cNvPr id="80" name="Google Shape;80;p15"/>
          <p:cNvGrpSpPr/>
          <p:nvPr/>
        </p:nvGrpSpPr>
        <p:grpSpPr>
          <a:xfrm>
            <a:off x="3320450" y="1304875"/>
            <a:ext cx="2632500" cy="3416400"/>
            <a:chOff x="3320450" y="1304875"/>
            <a:chExt cx="2632500" cy="3416400"/>
          </a:xfrm>
        </p:grpSpPr>
        <p:sp>
          <p:nvSpPr>
            <p:cNvPr id="81" name="Google Shape;81;p15"/>
            <p:cNvSpPr txBox="1"/>
            <p:nvPr/>
          </p:nvSpPr>
          <p:spPr>
            <a:xfrm>
              <a:off x="3324050"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a:off x="33204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15"/>
          <p:cNvSpPr txBox="1"/>
          <p:nvPr>
            <p:ph idx="4294967295" type="body"/>
          </p:nvPr>
        </p:nvSpPr>
        <p:spPr>
          <a:xfrm>
            <a:off x="3389450"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lt1"/>
                </a:solidFill>
              </a:rPr>
              <a:t>Why This Analysis Matters:</a:t>
            </a:r>
            <a:endParaRPr sz="1400">
              <a:solidFill>
                <a:schemeClr val="lt1"/>
              </a:solidFill>
            </a:endParaRPr>
          </a:p>
          <a:p>
            <a:pPr indent="0" lvl="0" marL="0" rtl="0" algn="l">
              <a:spcBef>
                <a:spcPts val="0"/>
              </a:spcBef>
              <a:spcAft>
                <a:spcPts val="0"/>
              </a:spcAft>
              <a:buNone/>
            </a:pPr>
            <a:r>
              <a:t/>
            </a:r>
            <a:endParaRPr>
              <a:solidFill>
                <a:schemeClr val="lt1"/>
              </a:solidFill>
            </a:endParaRPr>
          </a:p>
        </p:txBody>
      </p:sp>
      <p:sp>
        <p:nvSpPr>
          <p:cNvPr id="84" name="Google Shape;84;p15"/>
          <p:cNvSpPr txBox="1"/>
          <p:nvPr>
            <p:ph idx="4294967295" type="body"/>
          </p:nvPr>
        </p:nvSpPr>
        <p:spPr>
          <a:xfrm>
            <a:off x="3396775" y="1850300"/>
            <a:ext cx="2478600" cy="279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Identifies which states are leading in wind energy development</a:t>
            </a:r>
            <a:endParaRPr sz="1200"/>
          </a:p>
          <a:p>
            <a:pPr indent="-304800" lvl="0" marL="457200" rtl="0" algn="l">
              <a:spcBef>
                <a:spcPts val="0"/>
              </a:spcBef>
              <a:spcAft>
                <a:spcPts val="0"/>
              </a:spcAft>
              <a:buSzPts val="1200"/>
              <a:buChar char="●"/>
            </a:pPr>
            <a:r>
              <a:rPr lang="en" sz="1200"/>
              <a:t>Highlights potential for growth in underrepresented regions</a:t>
            </a:r>
            <a:endParaRPr sz="1200"/>
          </a:p>
          <a:p>
            <a:pPr indent="-304800" lvl="0" marL="457200" rtl="0" algn="l">
              <a:spcBef>
                <a:spcPts val="0"/>
              </a:spcBef>
              <a:spcAft>
                <a:spcPts val="0"/>
              </a:spcAft>
              <a:buSzPts val="1200"/>
              <a:buChar char="●"/>
            </a:pPr>
            <a:r>
              <a:rPr lang="en" sz="1200"/>
              <a:t>Supports data-driven decision making for policy makers, investors, and engineers</a:t>
            </a:r>
            <a:endParaRPr sz="1200"/>
          </a:p>
          <a:p>
            <a:pPr indent="-304800" lvl="0" marL="457200" rtl="0" algn="l">
              <a:spcBef>
                <a:spcPts val="0"/>
              </a:spcBef>
              <a:spcAft>
                <a:spcPts val="0"/>
              </a:spcAft>
              <a:buSzPts val="1200"/>
              <a:buChar char="●"/>
            </a:pPr>
            <a:r>
              <a:rPr lang="en" sz="1200"/>
              <a:t>Encourages public awareness by visualizing clean energy progress</a:t>
            </a:r>
            <a:endParaRPr sz="1200"/>
          </a:p>
        </p:txBody>
      </p:sp>
      <p:grpSp>
        <p:nvGrpSpPr>
          <p:cNvPr id="85" name="Google Shape;85;p15"/>
          <p:cNvGrpSpPr/>
          <p:nvPr/>
        </p:nvGrpSpPr>
        <p:grpSpPr>
          <a:xfrm>
            <a:off x="6212550" y="1304875"/>
            <a:ext cx="2632500" cy="3416400"/>
            <a:chOff x="6212550" y="1304875"/>
            <a:chExt cx="2632500" cy="3416400"/>
          </a:xfrm>
        </p:grpSpPr>
        <p:sp>
          <p:nvSpPr>
            <p:cNvPr id="86" name="Google Shape;86;p15"/>
            <p:cNvSpPr/>
            <p:nvPr/>
          </p:nvSpPr>
          <p:spPr>
            <a:xfrm>
              <a:off x="621540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txBox="1"/>
            <p:nvPr/>
          </p:nvSpPr>
          <p:spPr>
            <a:xfrm>
              <a:off x="6212550" y="1304875"/>
              <a:ext cx="26325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15"/>
          <p:cNvSpPr txBox="1"/>
          <p:nvPr>
            <p:ph idx="4294967295" type="body"/>
          </p:nvPr>
        </p:nvSpPr>
        <p:spPr>
          <a:xfrm>
            <a:off x="6272475"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 Project Impact:</a:t>
            </a:r>
            <a:endParaRPr>
              <a:solidFill>
                <a:schemeClr val="lt1"/>
              </a:solidFill>
            </a:endParaRPr>
          </a:p>
        </p:txBody>
      </p:sp>
      <p:sp>
        <p:nvSpPr>
          <p:cNvPr id="89" name="Google Shape;89;p15"/>
          <p:cNvSpPr txBox="1"/>
          <p:nvPr>
            <p:ph idx="4294967295" type="body"/>
          </p:nvPr>
        </p:nvSpPr>
        <p:spPr>
          <a:xfrm>
            <a:off x="6286400" y="1850300"/>
            <a:ext cx="2478600" cy="279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600"/>
              <a:t>By analyzing and visualizing this data, we can better understand how wind power is shaping the U.S. energy landscape — and where it can grow next.</a:t>
            </a:r>
            <a:endParaRPr sz="1600"/>
          </a:p>
          <a:p>
            <a:pPr indent="0" lvl="0" marL="0" rtl="0" algn="l">
              <a:spcBef>
                <a:spcPts val="1200"/>
              </a:spcBef>
              <a:spcAft>
                <a:spcPts val="1600"/>
              </a:spcAft>
              <a:buNone/>
            </a:pPr>
            <a:r>
              <a:t/>
            </a:r>
            <a:endParaRPr sz="1600"/>
          </a:p>
        </p:txBody>
      </p:sp>
      <p:sp>
        <p:nvSpPr>
          <p:cNvPr id="90" name="Google Shape;90;p15"/>
          <p:cNvSpPr txBox="1"/>
          <p:nvPr/>
        </p:nvSpPr>
        <p:spPr>
          <a:xfrm>
            <a:off x="5696100" y="4728000"/>
            <a:ext cx="34479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500">
                <a:solidFill>
                  <a:schemeClr val="dk1"/>
                </a:solidFill>
                <a:latin typeface="Average"/>
                <a:ea typeface="Average"/>
                <a:cs typeface="Average"/>
                <a:sym typeface="Average"/>
              </a:rPr>
              <a:t>Mariia-Olena Zhupnyk - </a:t>
            </a:r>
            <a:r>
              <a:rPr lang="en" sz="700">
                <a:solidFill>
                  <a:schemeClr val="dk1"/>
                </a:solidFill>
                <a:latin typeface="Average"/>
                <a:ea typeface="Average"/>
                <a:cs typeface="Average"/>
                <a:sym typeface="Average"/>
              </a:rPr>
              <a:t>Apr 21, 2025</a:t>
            </a:r>
            <a:endParaRPr sz="700">
              <a:solidFill>
                <a:schemeClr val="dk1"/>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200"/>
              <a:t>Project objective: </a:t>
            </a:r>
            <a:endParaRPr b="1" sz="4200"/>
          </a:p>
          <a:p>
            <a:pPr indent="0" lvl="0" marL="0" rtl="0" algn="l">
              <a:spcBef>
                <a:spcPts val="0"/>
              </a:spcBef>
              <a:spcAft>
                <a:spcPts val="0"/>
              </a:spcAft>
              <a:buNone/>
            </a:pPr>
            <a:r>
              <a:t/>
            </a:r>
            <a:endParaRPr b="1" sz="4200"/>
          </a:p>
          <a:p>
            <a:pPr indent="-393700" lvl="0" marL="800100" rtl="0" algn="l">
              <a:spcBef>
                <a:spcPts val="0"/>
              </a:spcBef>
              <a:spcAft>
                <a:spcPts val="0"/>
              </a:spcAft>
              <a:buSzPts val="2600"/>
              <a:buChar char="●"/>
            </a:pPr>
            <a:r>
              <a:rPr lang="en" sz="2600"/>
              <a:t>Explore trends in wind turbine deployment across U.S. states</a:t>
            </a:r>
            <a:endParaRPr sz="2600"/>
          </a:p>
          <a:p>
            <a:pPr indent="-393700" lvl="0" marL="800100" rtl="0" algn="l">
              <a:spcBef>
                <a:spcPts val="0"/>
              </a:spcBef>
              <a:spcAft>
                <a:spcPts val="0"/>
              </a:spcAft>
              <a:buSzPts val="2600"/>
              <a:buChar char="●"/>
            </a:pPr>
            <a:r>
              <a:rPr lang="en" sz="2600"/>
              <a:t>Analyze total turbine capacity and geographic distribution</a:t>
            </a:r>
            <a:endParaRPr sz="2600"/>
          </a:p>
          <a:p>
            <a:pPr indent="-393700" lvl="0" marL="800100" rtl="0" algn="l">
              <a:spcBef>
                <a:spcPts val="0"/>
              </a:spcBef>
              <a:spcAft>
                <a:spcPts val="0"/>
              </a:spcAft>
              <a:buSzPts val="2600"/>
              <a:buChar char="●"/>
            </a:pPr>
            <a:r>
              <a:rPr lang="en" sz="2600"/>
              <a:t>Create interactive visualizations for deeper insights</a:t>
            </a:r>
            <a:endParaRPr sz="2600"/>
          </a:p>
        </p:txBody>
      </p:sp>
      <p:sp>
        <p:nvSpPr>
          <p:cNvPr id="96" name="Google Shape;96;p16"/>
          <p:cNvSpPr txBox="1"/>
          <p:nvPr/>
        </p:nvSpPr>
        <p:spPr>
          <a:xfrm>
            <a:off x="5696100" y="4728000"/>
            <a:ext cx="34479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500">
                <a:solidFill>
                  <a:schemeClr val="lt1"/>
                </a:solidFill>
                <a:latin typeface="Average"/>
                <a:ea typeface="Average"/>
                <a:cs typeface="Average"/>
                <a:sym typeface="Average"/>
              </a:rPr>
              <a:t>Mariia-Olena Zhupnyk - </a:t>
            </a:r>
            <a:r>
              <a:rPr lang="en" sz="700">
                <a:solidFill>
                  <a:schemeClr val="lt1"/>
                </a:solidFill>
                <a:latin typeface="Average"/>
                <a:ea typeface="Average"/>
                <a:cs typeface="Average"/>
                <a:sym typeface="Average"/>
              </a:rPr>
              <a:t>Apr 21, 2025</a:t>
            </a:r>
            <a:endParaRPr sz="700">
              <a:solidFill>
                <a:schemeClr val="lt1"/>
              </a:solidFill>
              <a:latin typeface="Average"/>
              <a:ea typeface="Average"/>
              <a:cs typeface="Average"/>
              <a:sym typeface="Average"/>
            </a:endParaRPr>
          </a:p>
        </p:txBody>
      </p:sp>
      <p:pic>
        <p:nvPicPr>
          <p:cNvPr descr="a drawing of a wind turbine with a cloud behind it (Provided by Tenor)" id="97" name="Google Shape;97;p16"/>
          <p:cNvPicPr preferRelativeResize="0"/>
          <p:nvPr/>
        </p:nvPicPr>
        <p:blipFill>
          <a:blip r:embed="rId3">
            <a:alphaModFix/>
          </a:blip>
          <a:stretch>
            <a:fillRect/>
          </a:stretch>
        </p:blipFill>
        <p:spPr>
          <a:xfrm>
            <a:off x="6129650" y="1993675"/>
            <a:ext cx="2556300" cy="276147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ph type="title"/>
          </p:nvPr>
        </p:nvSpPr>
        <p:spPr>
          <a:xfrm>
            <a:off x="696725" y="27340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Dataset Overview</a:t>
            </a:r>
            <a:endParaRPr/>
          </a:p>
        </p:txBody>
      </p:sp>
      <p:pic>
        <p:nvPicPr>
          <p:cNvPr id="103" name="Google Shape;103;p17"/>
          <p:cNvPicPr preferRelativeResize="0"/>
          <p:nvPr/>
        </p:nvPicPr>
        <p:blipFill>
          <a:blip r:embed="rId3">
            <a:alphaModFix/>
          </a:blip>
          <a:stretch>
            <a:fillRect/>
          </a:stretch>
        </p:blipFill>
        <p:spPr>
          <a:xfrm>
            <a:off x="459300" y="1286800"/>
            <a:ext cx="8235649" cy="1569700"/>
          </a:xfrm>
          <a:prstGeom prst="rect">
            <a:avLst/>
          </a:prstGeom>
          <a:noFill/>
          <a:ln>
            <a:noFill/>
          </a:ln>
        </p:spPr>
      </p:pic>
      <p:sp>
        <p:nvSpPr>
          <p:cNvPr id="104" name="Google Shape;104;p17"/>
          <p:cNvSpPr txBox="1"/>
          <p:nvPr/>
        </p:nvSpPr>
        <p:spPr>
          <a:xfrm>
            <a:off x="564425" y="3008900"/>
            <a:ext cx="8116800" cy="12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Average"/>
                <a:ea typeface="Average"/>
                <a:cs typeface="Average"/>
                <a:sym typeface="Average"/>
              </a:rPr>
              <a:t>This dataset includes over 63,000 entries, each representing an individual wind turbine installed in the U.S. It contains details such as:</a:t>
            </a:r>
            <a:endParaRPr>
              <a:solidFill>
                <a:schemeClr val="accent3"/>
              </a:solidFill>
              <a:latin typeface="Average"/>
              <a:ea typeface="Average"/>
              <a:cs typeface="Average"/>
              <a:sym typeface="Average"/>
            </a:endParaRPr>
          </a:p>
          <a:p>
            <a:pPr indent="-317500" lvl="0" marL="457200" rtl="0" algn="l">
              <a:spcBef>
                <a:spcPts val="0"/>
              </a:spcBef>
              <a:spcAft>
                <a:spcPts val="0"/>
              </a:spcAft>
              <a:buClr>
                <a:schemeClr val="accent3"/>
              </a:buClr>
              <a:buSzPts val="1400"/>
              <a:buFont typeface="Average"/>
              <a:buChar char="➔"/>
            </a:pPr>
            <a:r>
              <a:rPr lang="en">
                <a:solidFill>
                  <a:schemeClr val="accent3"/>
                </a:solidFill>
                <a:latin typeface="Average"/>
                <a:ea typeface="Average"/>
                <a:cs typeface="Average"/>
                <a:sym typeface="Average"/>
              </a:rPr>
              <a:t>Location — State, County, Latitude, and Longitude</a:t>
            </a:r>
            <a:endParaRPr>
              <a:solidFill>
                <a:schemeClr val="accent3"/>
              </a:solidFill>
              <a:latin typeface="Average"/>
              <a:ea typeface="Average"/>
              <a:cs typeface="Average"/>
              <a:sym typeface="Average"/>
            </a:endParaRPr>
          </a:p>
          <a:p>
            <a:pPr indent="-317500" lvl="0" marL="457200" rtl="0" algn="l">
              <a:spcBef>
                <a:spcPts val="0"/>
              </a:spcBef>
              <a:spcAft>
                <a:spcPts val="0"/>
              </a:spcAft>
              <a:buClr>
                <a:schemeClr val="accent3"/>
              </a:buClr>
              <a:buSzPts val="1400"/>
              <a:buFont typeface="Average"/>
              <a:buChar char="➔"/>
            </a:pPr>
            <a:r>
              <a:rPr lang="en">
                <a:solidFill>
                  <a:schemeClr val="accent3"/>
                </a:solidFill>
                <a:latin typeface="Average"/>
                <a:ea typeface="Average"/>
                <a:cs typeface="Average"/>
                <a:sym typeface="Average"/>
              </a:rPr>
              <a:t>Technical Specifications — Hub Height, Rotor Diameter, Swept Area, Total Height</a:t>
            </a:r>
            <a:endParaRPr>
              <a:solidFill>
                <a:schemeClr val="accent3"/>
              </a:solidFill>
              <a:latin typeface="Average"/>
              <a:ea typeface="Average"/>
              <a:cs typeface="Average"/>
              <a:sym typeface="Average"/>
            </a:endParaRPr>
          </a:p>
          <a:p>
            <a:pPr indent="-317500" lvl="0" marL="457200" rtl="0" algn="l">
              <a:spcBef>
                <a:spcPts val="0"/>
              </a:spcBef>
              <a:spcAft>
                <a:spcPts val="0"/>
              </a:spcAft>
              <a:buClr>
                <a:schemeClr val="accent3"/>
              </a:buClr>
              <a:buSzPts val="1400"/>
              <a:buFont typeface="Average"/>
              <a:buChar char="➔"/>
            </a:pPr>
            <a:r>
              <a:rPr lang="en">
                <a:solidFill>
                  <a:schemeClr val="accent3"/>
                </a:solidFill>
                <a:latin typeface="Average"/>
                <a:ea typeface="Average"/>
                <a:cs typeface="Average"/>
                <a:sym typeface="Average"/>
              </a:rPr>
              <a:t>Performance — Individual Turbine Capacity and Total Project Capacity</a:t>
            </a:r>
            <a:endParaRPr>
              <a:solidFill>
                <a:schemeClr val="accent3"/>
              </a:solidFill>
              <a:latin typeface="Average"/>
              <a:ea typeface="Average"/>
              <a:cs typeface="Average"/>
              <a:sym typeface="Average"/>
            </a:endParaRPr>
          </a:p>
          <a:p>
            <a:pPr indent="-317500" lvl="0" marL="457200" rtl="0" algn="l">
              <a:spcBef>
                <a:spcPts val="0"/>
              </a:spcBef>
              <a:spcAft>
                <a:spcPts val="0"/>
              </a:spcAft>
              <a:buClr>
                <a:schemeClr val="accent3"/>
              </a:buClr>
              <a:buSzPts val="1400"/>
              <a:buFont typeface="Average"/>
              <a:buChar char="➔"/>
            </a:pPr>
            <a:r>
              <a:rPr lang="en">
                <a:solidFill>
                  <a:schemeClr val="accent3"/>
                </a:solidFill>
                <a:latin typeface="Average"/>
                <a:ea typeface="Average"/>
                <a:cs typeface="Average"/>
                <a:sym typeface="Average"/>
              </a:rPr>
              <a:t>Installation Info — Year of commissioning and number of turbines in the project</a:t>
            </a:r>
            <a:endParaRPr>
              <a:solidFill>
                <a:schemeClr val="accent3"/>
              </a:solidFill>
              <a:latin typeface="Average"/>
              <a:ea typeface="Average"/>
              <a:cs typeface="Average"/>
              <a:sym typeface="Average"/>
            </a:endParaRPr>
          </a:p>
          <a:p>
            <a:pPr indent="0" lvl="0" marL="0" rtl="0" algn="l">
              <a:spcBef>
                <a:spcPts val="0"/>
              </a:spcBef>
              <a:spcAft>
                <a:spcPts val="0"/>
              </a:spcAft>
              <a:buNone/>
            </a:pPr>
            <a:r>
              <a:rPr i="1" lang="en" sz="1100">
                <a:solidFill>
                  <a:schemeClr val="dk2"/>
                </a:solidFill>
                <a:latin typeface="Average"/>
                <a:ea typeface="Average"/>
                <a:cs typeface="Average"/>
                <a:sym typeface="Average"/>
              </a:rPr>
              <a:t>Data Source:</a:t>
            </a:r>
            <a:r>
              <a:rPr lang="en" sz="1100">
                <a:uFill>
                  <a:noFill/>
                </a:uFill>
                <a:latin typeface="Average"/>
                <a:ea typeface="Average"/>
                <a:cs typeface="Average"/>
                <a:sym typeface="Average"/>
                <a:hlinkClick r:id="rId4"/>
              </a:rPr>
              <a:t> </a:t>
            </a:r>
            <a:r>
              <a:rPr lang="en" sz="1100" u="sng">
                <a:solidFill>
                  <a:schemeClr val="hlink"/>
                </a:solidFill>
                <a:latin typeface="Average"/>
                <a:ea typeface="Average"/>
                <a:cs typeface="Average"/>
                <a:sym typeface="Average"/>
                <a:hlinkClick r:id="rId5"/>
              </a:rPr>
              <a:t>CORGIS Wind Turbines Dataset</a:t>
            </a:r>
            <a:endParaRPr>
              <a:solidFill>
                <a:schemeClr val="accent3"/>
              </a:solidFill>
              <a:latin typeface="Average"/>
              <a:ea typeface="Average"/>
              <a:cs typeface="Average"/>
              <a:sym typeface="Average"/>
            </a:endParaRPr>
          </a:p>
        </p:txBody>
      </p:sp>
      <p:sp>
        <p:nvSpPr>
          <p:cNvPr id="105" name="Google Shape;105;p17"/>
          <p:cNvSpPr txBox="1"/>
          <p:nvPr/>
        </p:nvSpPr>
        <p:spPr>
          <a:xfrm>
            <a:off x="5696100" y="4728000"/>
            <a:ext cx="34479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500">
                <a:solidFill>
                  <a:schemeClr val="dk1"/>
                </a:solidFill>
                <a:latin typeface="Average"/>
                <a:ea typeface="Average"/>
                <a:cs typeface="Average"/>
                <a:sym typeface="Average"/>
              </a:rPr>
              <a:t>Mariia-Olena Zhupnyk - </a:t>
            </a:r>
            <a:r>
              <a:rPr lang="en" sz="700">
                <a:solidFill>
                  <a:schemeClr val="dk1"/>
                </a:solidFill>
                <a:latin typeface="Average"/>
                <a:ea typeface="Average"/>
                <a:cs typeface="Average"/>
                <a:sym typeface="Average"/>
              </a:rPr>
              <a:t>Apr 21, 2025</a:t>
            </a:r>
            <a:endParaRPr sz="700">
              <a:solidFill>
                <a:schemeClr val="dk1"/>
              </a:solidFill>
              <a:latin typeface="Average"/>
              <a:ea typeface="Average"/>
              <a:cs typeface="Average"/>
              <a:sym typeface="Averag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8"/>
          <p:cNvSpPr txBox="1"/>
          <p:nvPr>
            <p:ph type="title"/>
          </p:nvPr>
        </p:nvSpPr>
        <p:spPr>
          <a:xfrm>
            <a:off x="265500" y="1733850"/>
            <a:ext cx="4045200" cy="16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Tools Used</a:t>
            </a:r>
            <a:endParaRPr/>
          </a:p>
        </p:txBody>
      </p:sp>
      <p:sp>
        <p:nvSpPr>
          <p:cNvPr id="111" name="Google Shape;111;p18"/>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Tech Stack:</a:t>
            </a:r>
            <a:endParaRPr b="1"/>
          </a:p>
          <a:p>
            <a:pPr indent="-342900" lvl="0" marL="457200" rtl="0" algn="l">
              <a:spcBef>
                <a:spcPts val="1600"/>
              </a:spcBef>
              <a:spcAft>
                <a:spcPts val="0"/>
              </a:spcAft>
              <a:buSzPts val="1800"/>
              <a:buChar char="●"/>
            </a:pPr>
            <a:r>
              <a:rPr lang="en"/>
              <a:t>Python (Pandas, Bokeh, Plotly)</a:t>
            </a:r>
            <a:endParaRPr/>
          </a:p>
          <a:p>
            <a:pPr indent="-342900" lvl="0" marL="457200" rtl="0" algn="l">
              <a:spcBef>
                <a:spcPts val="0"/>
              </a:spcBef>
              <a:spcAft>
                <a:spcPts val="0"/>
              </a:spcAft>
              <a:buSzPts val="1800"/>
              <a:buChar char="●"/>
            </a:pPr>
            <a:r>
              <a:rPr lang="en"/>
              <a:t>Google Colab and Jupyter Notebook for analysis</a:t>
            </a:r>
            <a:endParaRPr/>
          </a:p>
          <a:p>
            <a:pPr indent="-342900" lvl="0" marL="457200" rtl="0" algn="l">
              <a:spcBef>
                <a:spcPts val="0"/>
              </a:spcBef>
              <a:spcAft>
                <a:spcPts val="0"/>
              </a:spcAft>
              <a:buSzPts val="1800"/>
              <a:buChar char="●"/>
            </a:pPr>
            <a:r>
              <a:rPr lang="en"/>
              <a:t>GitHub for version control</a:t>
            </a:r>
            <a:endParaRPr/>
          </a:p>
          <a:p>
            <a:pPr indent="-342900" lvl="0" marL="457200" rtl="0" algn="l">
              <a:spcBef>
                <a:spcPts val="0"/>
              </a:spcBef>
              <a:spcAft>
                <a:spcPts val="0"/>
              </a:spcAft>
              <a:buSzPts val="1800"/>
              <a:buChar char="●"/>
            </a:pPr>
            <a:r>
              <a:rPr lang="en"/>
              <a:t>Netlify to publish visuals</a:t>
            </a:r>
            <a:endParaRPr/>
          </a:p>
          <a:p>
            <a:pPr indent="-342900" lvl="0" marL="457200" rtl="0" algn="l">
              <a:spcBef>
                <a:spcPts val="0"/>
              </a:spcBef>
              <a:spcAft>
                <a:spcPts val="0"/>
              </a:spcAft>
              <a:buSzPts val="1800"/>
              <a:buChar char="●"/>
            </a:pPr>
            <a:r>
              <a:rPr lang="en"/>
              <a:t>PowerPoint to present insights</a:t>
            </a:r>
            <a:endParaRPr/>
          </a:p>
        </p:txBody>
      </p:sp>
      <p:sp>
        <p:nvSpPr>
          <p:cNvPr id="112" name="Google Shape;112;p18"/>
          <p:cNvSpPr txBox="1"/>
          <p:nvPr/>
        </p:nvSpPr>
        <p:spPr>
          <a:xfrm>
            <a:off x="5696100" y="4728000"/>
            <a:ext cx="34479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500">
                <a:solidFill>
                  <a:schemeClr val="lt1"/>
                </a:solidFill>
                <a:latin typeface="Average"/>
                <a:ea typeface="Average"/>
                <a:cs typeface="Average"/>
                <a:sym typeface="Average"/>
              </a:rPr>
              <a:t>Mariia-Olena Zhupnyk - </a:t>
            </a:r>
            <a:r>
              <a:rPr lang="en" sz="700">
                <a:solidFill>
                  <a:schemeClr val="lt1"/>
                </a:solidFill>
                <a:latin typeface="Average"/>
                <a:ea typeface="Average"/>
                <a:cs typeface="Average"/>
                <a:sym typeface="Average"/>
              </a:rPr>
              <a:t>Apr 21, 2025</a:t>
            </a:r>
            <a:endParaRPr sz="700">
              <a:solidFill>
                <a:schemeClr val="lt1"/>
              </a:solidFill>
              <a:latin typeface="Average"/>
              <a:ea typeface="Average"/>
              <a:cs typeface="Average"/>
              <a:sym typeface="Averag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cleaning and transformation</a:t>
            </a:r>
            <a:endParaRPr/>
          </a:p>
        </p:txBody>
      </p:sp>
      <p:sp>
        <p:nvSpPr>
          <p:cNvPr id="118" name="Google Shape;118;p19"/>
          <p:cNvSpPr txBox="1"/>
          <p:nvPr>
            <p:ph idx="1" type="body"/>
          </p:nvPr>
        </p:nvSpPr>
        <p:spPr>
          <a:xfrm>
            <a:off x="311700" y="1372975"/>
            <a:ext cx="3999900" cy="2975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The dataset was clean — no missing or duplicate values were found.</a:t>
            </a:r>
            <a:endParaRPr sz="1600"/>
          </a:p>
          <a:p>
            <a:pPr indent="-330200" lvl="0" marL="457200" rtl="0" algn="l">
              <a:spcBef>
                <a:spcPts val="0"/>
              </a:spcBef>
              <a:spcAft>
                <a:spcPts val="0"/>
              </a:spcAft>
              <a:buSzPts val="1600"/>
              <a:buChar char="●"/>
            </a:pPr>
            <a:r>
              <a:rPr lang="en" sz="1600"/>
              <a:t>Renamed several columns to improve clarity and readability (e.g.,'Site.State': 'State','Site.County': 'County',).</a:t>
            </a:r>
            <a:endParaRPr sz="1600"/>
          </a:p>
          <a:p>
            <a:pPr indent="-330200" lvl="0" marL="457200" rtl="0" algn="l">
              <a:spcBef>
                <a:spcPts val="0"/>
              </a:spcBef>
              <a:spcAft>
                <a:spcPts val="0"/>
              </a:spcAft>
              <a:buSzPts val="1600"/>
              <a:buChar char="●"/>
            </a:pPr>
            <a:r>
              <a:rPr lang="en" sz="1600"/>
              <a:t>Ensured date formats were consistent for analysis.</a:t>
            </a:r>
            <a:endParaRPr sz="1600"/>
          </a:p>
          <a:p>
            <a:pPr indent="-330200" lvl="0" marL="457200" rtl="0" algn="l">
              <a:spcBef>
                <a:spcPts val="0"/>
              </a:spcBef>
              <a:spcAft>
                <a:spcPts val="0"/>
              </a:spcAft>
              <a:buSzPts val="1600"/>
              <a:buChar char="●"/>
            </a:pPr>
            <a:r>
              <a:rPr lang="en" sz="1600"/>
              <a:t>Applied filtering later during visualization to focus on specific states, years, and capacity ranges.</a:t>
            </a:r>
            <a:endParaRPr sz="1600"/>
          </a:p>
        </p:txBody>
      </p:sp>
      <p:pic>
        <p:nvPicPr>
          <p:cNvPr id="119" name="Google Shape;119;p19"/>
          <p:cNvPicPr preferRelativeResize="0"/>
          <p:nvPr/>
        </p:nvPicPr>
        <p:blipFill>
          <a:blip r:embed="rId3">
            <a:alphaModFix/>
          </a:blip>
          <a:stretch>
            <a:fillRect/>
          </a:stretch>
        </p:blipFill>
        <p:spPr>
          <a:xfrm>
            <a:off x="4311600" y="1407200"/>
            <a:ext cx="4397426" cy="2906951"/>
          </a:xfrm>
          <a:prstGeom prst="rect">
            <a:avLst/>
          </a:prstGeom>
          <a:noFill/>
          <a:ln>
            <a:noFill/>
          </a:ln>
        </p:spPr>
      </p:pic>
      <p:sp>
        <p:nvSpPr>
          <p:cNvPr id="120" name="Google Shape;120;p19"/>
          <p:cNvSpPr txBox="1"/>
          <p:nvPr/>
        </p:nvSpPr>
        <p:spPr>
          <a:xfrm>
            <a:off x="5696100" y="4728000"/>
            <a:ext cx="34479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500">
                <a:solidFill>
                  <a:schemeClr val="dk1"/>
                </a:solidFill>
                <a:latin typeface="Average"/>
                <a:ea typeface="Average"/>
                <a:cs typeface="Average"/>
                <a:sym typeface="Average"/>
              </a:rPr>
              <a:t>Mariia-Olena Zhupnyk - </a:t>
            </a:r>
            <a:r>
              <a:rPr lang="en" sz="700">
                <a:solidFill>
                  <a:schemeClr val="dk1"/>
                </a:solidFill>
                <a:latin typeface="Average"/>
                <a:ea typeface="Average"/>
                <a:cs typeface="Average"/>
                <a:sym typeface="Average"/>
              </a:rPr>
              <a:t>Apr 21, 2025</a:t>
            </a:r>
            <a:endParaRPr sz="700">
              <a:solidFill>
                <a:schemeClr val="dk1"/>
              </a:solidFill>
              <a:latin typeface="Average"/>
              <a:ea typeface="Average"/>
              <a:cs typeface="Average"/>
              <a:sym typeface="Averag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idx="4294967295" type="title"/>
          </p:nvPr>
        </p:nvSpPr>
        <p:spPr>
          <a:xfrm>
            <a:off x="311700" y="2837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Trend analysis</a:t>
            </a:r>
            <a:endParaRPr/>
          </a:p>
        </p:txBody>
      </p:sp>
      <p:sp>
        <p:nvSpPr>
          <p:cNvPr id="126" name="Google Shape;126;p20"/>
          <p:cNvSpPr txBox="1"/>
          <p:nvPr>
            <p:ph idx="4294967295" type="body"/>
          </p:nvPr>
        </p:nvSpPr>
        <p:spPr>
          <a:xfrm>
            <a:off x="311700" y="856400"/>
            <a:ext cx="8391600" cy="469800"/>
          </a:xfrm>
          <a:prstGeom prst="rect">
            <a:avLst/>
          </a:prstGeom>
        </p:spPr>
        <p:txBody>
          <a:bodyPr anchorCtr="0" anchor="t" bIns="91425" lIns="91425" spcFirstLastPara="1" rIns="91425" wrap="square" tIns="91425">
            <a:noAutofit/>
          </a:bodyPr>
          <a:lstStyle/>
          <a:p>
            <a:pPr indent="-317500" lvl="0" marL="457200" rtl="0" algn="ctr">
              <a:spcBef>
                <a:spcPts val="0"/>
              </a:spcBef>
              <a:spcAft>
                <a:spcPts val="0"/>
              </a:spcAft>
              <a:buClr>
                <a:schemeClr val="dk2"/>
              </a:buClr>
              <a:buSzPts val="1400"/>
              <a:buChar char="➔"/>
            </a:pPr>
            <a:r>
              <a:rPr b="1" lang="en" sz="1400">
                <a:solidFill>
                  <a:schemeClr val="dk2"/>
                </a:solidFill>
              </a:rPr>
              <a:t>Let’s see how wind turbine installations have changed over </a:t>
            </a:r>
            <a:endParaRPr sz="1600">
              <a:solidFill>
                <a:schemeClr val="dk2"/>
              </a:solidFill>
            </a:endParaRPr>
          </a:p>
        </p:txBody>
      </p:sp>
      <p:pic>
        <p:nvPicPr>
          <p:cNvPr id="127" name="Google Shape;127;p20"/>
          <p:cNvPicPr preferRelativeResize="0"/>
          <p:nvPr/>
        </p:nvPicPr>
        <p:blipFill>
          <a:blip r:embed="rId3">
            <a:alphaModFix/>
          </a:blip>
          <a:stretch>
            <a:fillRect/>
          </a:stretch>
        </p:blipFill>
        <p:spPr>
          <a:xfrm>
            <a:off x="390925" y="1424825"/>
            <a:ext cx="4406899" cy="3029374"/>
          </a:xfrm>
          <a:prstGeom prst="rect">
            <a:avLst/>
          </a:prstGeom>
          <a:noFill/>
          <a:ln>
            <a:noFill/>
          </a:ln>
        </p:spPr>
      </p:pic>
      <p:pic>
        <p:nvPicPr>
          <p:cNvPr id="128" name="Google Shape;128;p20"/>
          <p:cNvPicPr preferRelativeResize="0"/>
          <p:nvPr/>
        </p:nvPicPr>
        <p:blipFill>
          <a:blip r:embed="rId4">
            <a:alphaModFix/>
          </a:blip>
          <a:stretch>
            <a:fillRect/>
          </a:stretch>
        </p:blipFill>
        <p:spPr>
          <a:xfrm>
            <a:off x="4873800" y="1925450"/>
            <a:ext cx="3829500" cy="2028125"/>
          </a:xfrm>
          <a:prstGeom prst="rect">
            <a:avLst/>
          </a:prstGeom>
          <a:noFill/>
          <a:ln>
            <a:noFill/>
          </a:ln>
        </p:spPr>
      </p:pic>
      <p:sp>
        <p:nvSpPr>
          <p:cNvPr id="129" name="Google Shape;129;p20"/>
          <p:cNvSpPr txBox="1"/>
          <p:nvPr/>
        </p:nvSpPr>
        <p:spPr>
          <a:xfrm>
            <a:off x="5696100" y="4728000"/>
            <a:ext cx="34479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500">
                <a:solidFill>
                  <a:schemeClr val="dk1"/>
                </a:solidFill>
                <a:latin typeface="Average"/>
                <a:ea typeface="Average"/>
                <a:cs typeface="Average"/>
                <a:sym typeface="Average"/>
              </a:rPr>
              <a:t>Mariia-Olena Zhupnyk - </a:t>
            </a:r>
            <a:r>
              <a:rPr lang="en" sz="700">
                <a:solidFill>
                  <a:schemeClr val="dk1"/>
                </a:solidFill>
                <a:latin typeface="Average"/>
                <a:ea typeface="Average"/>
                <a:cs typeface="Average"/>
                <a:sym typeface="Average"/>
              </a:rPr>
              <a:t>Apr 21, 2025</a:t>
            </a:r>
            <a:endParaRPr sz="700">
              <a:solidFill>
                <a:schemeClr val="dk1"/>
              </a:solidFill>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idx="4294967295" type="title"/>
          </p:nvPr>
        </p:nvSpPr>
        <p:spPr>
          <a:xfrm>
            <a:off x="311700" y="2837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Turbine Distribution by State</a:t>
            </a:r>
            <a:endParaRPr/>
          </a:p>
        </p:txBody>
      </p:sp>
      <p:sp>
        <p:nvSpPr>
          <p:cNvPr id="135" name="Google Shape;135;p21"/>
          <p:cNvSpPr txBox="1"/>
          <p:nvPr>
            <p:ph idx="4294967295" type="body"/>
          </p:nvPr>
        </p:nvSpPr>
        <p:spPr>
          <a:xfrm>
            <a:off x="311700" y="856400"/>
            <a:ext cx="6642600" cy="9537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2"/>
              </a:buClr>
              <a:buSzPts val="1200"/>
              <a:buChar char="➔"/>
            </a:pPr>
            <a:r>
              <a:rPr b="1" lang="en" sz="1200">
                <a:solidFill>
                  <a:schemeClr val="dk2"/>
                </a:solidFill>
              </a:rPr>
              <a:t>Texas leads in wind energy — likely because of its large size, windy areas, and open land.</a:t>
            </a:r>
            <a:endParaRPr b="1" sz="1200">
              <a:solidFill>
                <a:schemeClr val="dk2"/>
              </a:solidFill>
            </a:endParaRPr>
          </a:p>
          <a:p>
            <a:pPr indent="-304800" lvl="0" marL="457200" rtl="0" algn="l">
              <a:spcBef>
                <a:spcPts val="0"/>
              </a:spcBef>
              <a:spcAft>
                <a:spcPts val="0"/>
              </a:spcAft>
              <a:buClr>
                <a:schemeClr val="dk2"/>
              </a:buClr>
              <a:buSzPts val="1200"/>
              <a:buChar char="➔"/>
            </a:pPr>
            <a:r>
              <a:rPr b="1" lang="en" sz="1200">
                <a:solidFill>
                  <a:schemeClr val="dk2"/>
                </a:solidFill>
              </a:rPr>
              <a:t>Wind power is concentrated in a few states with good natural conditions.</a:t>
            </a:r>
            <a:endParaRPr b="1" sz="1200">
              <a:solidFill>
                <a:schemeClr val="dk2"/>
              </a:solidFill>
            </a:endParaRPr>
          </a:p>
          <a:p>
            <a:pPr indent="-304800" lvl="0" marL="457200" rtl="0" algn="l">
              <a:spcBef>
                <a:spcPts val="0"/>
              </a:spcBef>
              <a:spcAft>
                <a:spcPts val="0"/>
              </a:spcAft>
              <a:buClr>
                <a:schemeClr val="dk2"/>
              </a:buClr>
              <a:buSzPts val="1200"/>
              <a:buChar char="➔"/>
            </a:pPr>
            <a:r>
              <a:rPr b="1" lang="en" sz="1200">
                <a:solidFill>
                  <a:schemeClr val="dk2"/>
                </a:solidFill>
              </a:rPr>
              <a:t>There’s a sharp drop after the top states, meaning wind energy is not spread evenly across the country.</a:t>
            </a:r>
            <a:endParaRPr b="1" sz="1200">
              <a:solidFill>
                <a:schemeClr val="dk2"/>
              </a:solidFill>
            </a:endParaRPr>
          </a:p>
        </p:txBody>
      </p:sp>
      <p:sp>
        <p:nvSpPr>
          <p:cNvPr id="136" name="Google Shape;136;p21"/>
          <p:cNvSpPr txBox="1"/>
          <p:nvPr/>
        </p:nvSpPr>
        <p:spPr>
          <a:xfrm>
            <a:off x="5696100" y="4728000"/>
            <a:ext cx="34479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500">
                <a:solidFill>
                  <a:schemeClr val="dk1"/>
                </a:solidFill>
                <a:latin typeface="Average"/>
                <a:ea typeface="Average"/>
                <a:cs typeface="Average"/>
                <a:sym typeface="Average"/>
              </a:rPr>
              <a:t>Mariia-Olena Zhupnyk - </a:t>
            </a:r>
            <a:r>
              <a:rPr lang="en" sz="700">
                <a:solidFill>
                  <a:schemeClr val="dk1"/>
                </a:solidFill>
                <a:latin typeface="Average"/>
                <a:ea typeface="Average"/>
                <a:cs typeface="Average"/>
                <a:sym typeface="Average"/>
              </a:rPr>
              <a:t>Apr 21, 2025</a:t>
            </a:r>
            <a:endParaRPr sz="700">
              <a:solidFill>
                <a:schemeClr val="dk1"/>
              </a:solidFill>
              <a:latin typeface="Average"/>
              <a:ea typeface="Average"/>
              <a:cs typeface="Average"/>
              <a:sym typeface="Average"/>
            </a:endParaRPr>
          </a:p>
        </p:txBody>
      </p:sp>
      <p:pic>
        <p:nvPicPr>
          <p:cNvPr id="137" name="Google Shape;137;p21"/>
          <p:cNvPicPr preferRelativeResize="0"/>
          <p:nvPr/>
        </p:nvPicPr>
        <p:blipFill>
          <a:blip r:embed="rId3">
            <a:alphaModFix/>
          </a:blip>
          <a:stretch>
            <a:fillRect/>
          </a:stretch>
        </p:blipFill>
        <p:spPr>
          <a:xfrm>
            <a:off x="4941725" y="2118650"/>
            <a:ext cx="3754550" cy="2411250"/>
          </a:xfrm>
          <a:prstGeom prst="rect">
            <a:avLst/>
          </a:prstGeom>
          <a:noFill/>
          <a:ln>
            <a:noFill/>
          </a:ln>
        </p:spPr>
      </p:pic>
      <p:pic>
        <p:nvPicPr>
          <p:cNvPr descr="a cartoon illustration of an american flag with wind turbines on it . (Provided by Tenor)" id="138" name="Google Shape;138;p21"/>
          <p:cNvPicPr preferRelativeResize="0"/>
          <p:nvPr/>
        </p:nvPicPr>
        <p:blipFill>
          <a:blip r:embed="rId4">
            <a:alphaModFix/>
          </a:blip>
          <a:stretch>
            <a:fillRect/>
          </a:stretch>
        </p:blipFill>
        <p:spPr>
          <a:xfrm>
            <a:off x="6954298" y="536548"/>
            <a:ext cx="1626325" cy="1273550"/>
          </a:xfrm>
          <a:prstGeom prst="rect">
            <a:avLst/>
          </a:prstGeom>
          <a:noFill/>
          <a:ln>
            <a:noFill/>
          </a:ln>
        </p:spPr>
      </p:pic>
      <p:pic>
        <p:nvPicPr>
          <p:cNvPr id="139" name="Google Shape;139;p21"/>
          <p:cNvPicPr preferRelativeResize="0"/>
          <p:nvPr/>
        </p:nvPicPr>
        <p:blipFill>
          <a:blip r:embed="rId5">
            <a:alphaModFix/>
          </a:blip>
          <a:stretch>
            <a:fillRect/>
          </a:stretch>
        </p:blipFill>
        <p:spPr>
          <a:xfrm>
            <a:off x="386575" y="1920550"/>
            <a:ext cx="4411249" cy="2807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idx="4294967295" type="title"/>
          </p:nvPr>
        </p:nvSpPr>
        <p:spPr>
          <a:xfrm>
            <a:off x="311700" y="2837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Analyze average turbine capacity by year.</a:t>
            </a:r>
            <a:endParaRPr/>
          </a:p>
        </p:txBody>
      </p:sp>
      <p:sp>
        <p:nvSpPr>
          <p:cNvPr id="145" name="Google Shape;145;p22"/>
          <p:cNvSpPr txBox="1"/>
          <p:nvPr>
            <p:ph idx="4294967295" type="body"/>
          </p:nvPr>
        </p:nvSpPr>
        <p:spPr>
          <a:xfrm>
            <a:off x="311700" y="856400"/>
            <a:ext cx="8374500" cy="118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This chart shows how the average capacity (in kilowatts) of wind turbines installed each year has changed over time. What it tells us:</a:t>
            </a:r>
            <a:endParaRPr sz="1000"/>
          </a:p>
          <a:p>
            <a:pPr indent="-292100" lvl="0" marL="457200" rtl="0" algn="l">
              <a:spcBef>
                <a:spcPts val="1600"/>
              </a:spcBef>
              <a:spcAft>
                <a:spcPts val="0"/>
              </a:spcAft>
              <a:buSzPts val="1000"/>
              <a:buChar char="➔"/>
            </a:pPr>
            <a:r>
              <a:rPr lang="en" sz="1000"/>
              <a:t>The capacity of turbines has steadily increased since the 1980s.</a:t>
            </a:r>
            <a:endParaRPr sz="1000"/>
          </a:p>
          <a:p>
            <a:pPr indent="-292100" lvl="0" marL="457200" rtl="0" algn="l">
              <a:spcBef>
                <a:spcPts val="0"/>
              </a:spcBef>
              <a:spcAft>
                <a:spcPts val="0"/>
              </a:spcAft>
              <a:buSzPts val="1000"/>
              <a:buChar char="➔"/>
            </a:pPr>
            <a:r>
              <a:rPr lang="en" sz="1000"/>
              <a:t>Especially after the early 2000s, we see a sharp rise, which likely reflects improvements in turbine technology and a push for more efficient energy generation.</a:t>
            </a:r>
            <a:endParaRPr sz="1000"/>
          </a:p>
          <a:p>
            <a:pPr indent="-292100" lvl="0" marL="457200" rtl="0" algn="l">
              <a:spcBef>
                <a:spcPts val="0"/>
              </a:spcBef>
              <a:spcAft>
                <a:spcPts val="0"/>
              </a:spcAft>
              <a:buSzPts val="1000"/>
              <a:buChar char="➔"/>
            </a:pPr>
            <a:r>
              <a:rPr lang="en" sz="1000"/>
              <a:t>This suggests that rather than just building more turbines, the U.S. has also focused on building better turbines.</a:t>
            </a:r>
            <a:endParaRPr sz="1000"/>
          </a:p>
          <a:p>
            <a:pPr indent="-292100" lvl="0" marL="457200" rtl="0" algn="l">
              <a:spcBef>
                <a:spcPts val="0"/>
              </a:spcBef>
              <a:spcAft>
                <a:spcPts val="0"/>
              </a:spcAft>
              <a:buSzPts val="1000"/>
              <a:buChar char="➔"/>
            </a:pPr>
            <a:r>
              <a:rPr lang="en" sz="1000"/>
              <a:t>In short: Turbines are getting stronger and smarter over time.</a:t>
            </a:r>
            <a:endParaRPr sz="1000"/>
          </a:p>
        </p:txBody>
      </p:sp>
      <p:sp>
        <p:nvSpPr>
          <p:cNvPr id="146" name="Google Shape;146;p22"/>
          <p:cNvSpPr txBox="1"/>
          <p:nvPr/>
        </p:nvSpPr>
        <p:spPr>
          <a:xfrm>
            <a:off x="5696100" y="4728000"/>
            <a:ext cx="34479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500">
                <a:solidFill>
                  <a:schemeClr val="dk1"/>
                </a:solidFill>
                <a:latin typeface="Average"/>
                <a:ea typeface="Average"/>
                <a:cs typeface="Average"/>
                <a:sym typeface="Average"/>
              </a:rPr>
              <a:t>Mariia-Olena Zhupnyk - </a:t>
            </a:r>
            <a:r>
              <a:rPr lang="en" sz="700">
                <a:solidFill>
                  <a:schemeClr val="dk1"/>
                </a:solidFill>
                <a:latin typeface="Average"/>
                <a:ea typeface="Average"/>
                <a:cs typeface="Average"/>
                <a:sym typeface="Average"/>
              </a:rPr>
              <a:t>Apr 21, 2025</a:t>
            </a:r>
            <a:endParaRPr sz="700">
              <a:solidFill>
                <a:schemeClr val="dk1"/>
              </a:solidFill>
              <a:latin typeface="Average"/>
              <a:ea typeface="Average"/>
              <a:cs typeface="Average"/>
              <a:sym typeface="Average"/>
            </a:endParaRPr>
          </a:p>
        </p:txBody>
      </p:sp>
      <p:pic>
        <p:nvPicPr>
          <p:cNvPr id="147" name="Google Shape;147;p22"/>
          <p:cNvPicPr preferRelativeResize="0"/>
          <p:nvPr/>
        </p:nvPicPr>
        <p:blipFill>
          <a:blip r:embed="rId3">
            <a:alphaModFix/>
          </a:blip>
          <a:stretch>
            <a:fillRect/>
          </a:stretch>
        </p:blipFill>
        <p:spPr>
          <a:xfrm>
            <a:off x="459300" y="2192900"/>
            <a:ext cx="4344975" cy="2385100"/>
          </a:xfrm>
          <a:prstGeom prst="rect">
            <a:avLst/>
          </a:prstGeom>
          <a:noFill/>
          <a:ln>
            <a:noFill/>
          </a:ln>
        </p:spPr>
      </p:pic>
      <p:pic>
        <p:nvPicPr>
          <p:cNvPr id="148" name="Google Shape;148;p22"/>
          <p:cNvPicPr preferRelativeResize="0"/>
          <p:nvPr/>
        </p:nvPicPr>
        <p:blipFill>
          <a:blip r:embed="rId4">
            <a:alphaModFix/>
          </a:blip>
          <a:stretch>
            <a:fillRect/>
          </a:stretch>
        </p:blipFill>
        <p:spPr>
          <a:xfrm>
            <a:off x="4871775" y="2390250"/>
            <a:ext cx="3814425" cy="198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idx="4294967295" type="title"/>
          </p:nvPr>
        </p:nvSpPr>
        <p:spPr>
          <a:xfrm>
            <a:off x="311700" y="2837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Turbine Capacity vs Rotor Diameter</a:t>
            </a:r>
            <a:endParaRPr/>
          </a:p>
        </p:txBody>
      </p:sp>
      <p:sp>
        <p:nvSpPr>
          <p:cNvPr id="154" name="Google Shape;154;p23"/>
          <p:cNvSpPr txBox="1"/>
          <p:nvPr>
            <p:ph idx="4294967295" type="body"/>
          </p:nvPr>
        </p:nvSpPr>
        <p:spPr>
          <a:xfrm>
            <a:off x="311700" y="856400"/>
            <a:ext cx="8382900" cy="792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Char char="➔"/>
            </a:pPr>
            <a:r>
              <a:rPr b="1" lang="en" sz="1400">
                <a:solidFill>
                  <a:schemeClr val="dk2"/>
                </a:solidFill>
              </a:rPr>
              <a:t>There’s a clear positive correlation — newer turbines with larger rotors are designed to be more powerful. This shows how engineering advancements are making turbines more efficient over time.</a:t>
            </a:r>
            <a:endParaRPr sz="1400">
              <a:solidFill>
                <a:schemeClr val="dk2"/>
              </a:solidFill>
            </a:endParaRPr>
          </a:p>
        </p:txBody>
      </p:sp>
      <p:sp>
        <p:nvSpPr>
          <p:cNvPr id="155" name="Google Shape;155;p23"/>
          <p:cNvSpPr txBox="1"/>
          <p:nvPr/>
        </p:nvSpPr>
        <p:spPr>
          <a:xfrm>
            <a:off x="5696100" y="4728000"/>
            <a:ext cx="34479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500">
                <a:solidFill>
                  <a:schemeClr val="dk1"/>
                </a:solidFill>
                <a:latin typeface="Average"/>
                <a:ea typeface="Average"/>
                <a:cs typeface="Average"/>
                <a:sym typeface="Average"/>
              </a:rPr>
              <a:t>Mariia-Olena Zhupnyk - </a:t>
            </a:r>
            <a:r>
              <a:rPr lang="en" sz="700">
                <a:solidFill>
                  <a:schemeClr val="dk1"/>
                </a:solidFill>
                <a:latin typeface="Average"/>
                <a:ea typeface="Average"/>
                <a:cs typeface="Average"/>
                <a:sym typeface="Average"/>
              </a:rPr>
              <a:t>Apr 21, 2025</a:t>
            </a:r>
            <a:endParaRPr sz="700">
              <a:solidFill>
                <a:schemeClr val="dk1"/>
              </a:solidFill>
              <a:latin typeface="Average"/>
              <a:ea typeface="Average"/>
              <a:cs typeface="Average"/>
              <a:sym typeface="Average"/>
            </a:endParaRPr>
          </a:p>
        </p:txBody>
      </p:sp>
      <p:pic>
        <p:nvPicPr>
          <p:cNvPr id="156" name="Google Shape;156;p23"/>
          <p:cNvPicPr preferRelativeResize="0"/>
          <p:nvPr/>
        </p:nvPicPr>
        <p:blipFill>
          <a:blip r:embed="rId3">
            <a:alphaModFix/>
          </a:blip>
          <a:stretch>
            <a:fillRect/>
          </a:stretch>
        </p:blipFill>
        <p:spPr>
          <a:xfrm>
            <a:off x="444071" y="2358700"/>
            <a:ext cx="4328274" cy="952500"/>
          </a:xfrm>
          <a:prstGeom prst="rect">
            <a:avLst/>
          </a:prstGeom>
          <a:noFill/>
          <a:ln>
            <a:noFill/>
          </a:ln>
        </p:spPr>
      </p:pic>
      <p:pic>
        <p:nvPicPr>
          <p:cNvPr id="157" name="Google Shape;157;p23"/>
          <p:cNvPicPr preferRelativeResize="0"/>
          <p:nvPr/>
        </p:nvPicPr>
        <p:blipFill>
          <a:blip r:embed="rId4">
            <a:alphaModFix/>
          </a:blip>
          <a:stretch>
            <a:fillRect/>
          </a:stretch>
        </p:blipFill>
        <p:spPr>
          <a:xfrm>
            <a:off x="4890750" y="1688025"/>
            <a:ext cx="3803700" cy="2557661"/>
          </a:xfrm>
          <a:prstGeom prst="rect">
            <a:avLst/>
          </a:prstGeom>
          <a:noFill/>
          <a:ln>
            <a:noFill/>
          </a:ln>
        </p:spPr>
      </p:pic>
      <p:pic>
        <p:nvPicPr>
          <p:cNvPr descr="File:Wind turbine icon.png - Wikimedia Commons" id="158" name="Google Shape;158;p23"/>
          <p:cNvPicPr preferRelativeResize="0"/>
          <p:nvPr/>
        </p:nvPicPr>
        <p:blipFill>
          <a:blip r:embed="rId5">
            <a:alphaModFix/>
          </a:blip>
          <a:stretch>
            <a:fillRect/>
          </a:stretch>
        </p:blipFill>
        <p:spPr>
          <a:xfrm>
            <a:off x="444073" y="3464977"/>
            <a:ext cx="840525" cy="14662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ph idx="4294967295" type="title"/>
          </p:nvPr>
        </p:nvSpPr>
        <p:spPr>
          <a:xfrm>
            <a:off x="311700" y="2837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Wind Turbine locations across the US.(</a:t>
            </a:r>
            <a:r>
              <a:rPr lang="en"/>
              <a:t>Point Map</a:t>
            </a:r>
            <a:r>
              <a:rPr lang="en"/>
              <a:t>)</a:t>
            </a:r>
            <a:endParaRPr/>
          </a:p>
        </p:txBody>
      </p:sp>
      <p:sp>
        <p:nvSpPr>
          <p:cNvPr id="164" name="Google Shape;164;p24"/>
          <p:cNvSpPr txBox="1"/>
          <p:nvPr>
            <p:ph idx="4294967295" type="body"/>
          </p:nvPr>
        </p:nvSpPr>
        <p:spPr>
          <a:xfrm>
            <a:off x="311700" y="856400"/>
            <a:ext cx="8382900" cy="7926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Char char="➔"/>
            </a:pPr>
            <a:r>
              <a:rPr b="1" lang="en" sz="1100">
                <a:solidFill>
                  <a:schemeClr val="dk2"/>
                </a:solidFill>
              </a:rPr>
              <a:t>The map visualizes wind turbine locations across the US.</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The majority of wind turbine installations are concentrated in the central and western parts of the United States, particularly in states like Texas, Oklahoma, Iowa, and Kansas, which are known for their favorable wind conditions and flat terrains.</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The eastern seaboard and Great Lakes region also show notable activity.</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A few scattered points are visible in Hawaii, Caribbean, and Pacific territories, indicating offshore or island-based turbines.</a:t>
            </a:r>
            <a:endParaRPr b="1" sz="1100">
              <a:solidFill>
                <a:schemeClr val="dk2"/>
              </a:solidFill>
            </a:endParaRPr>
          </a:p>
        </p:txBody>
      </p:sp>
      <p:sp>
        <p:nvSpPr>
          <p:cNvPr id="165" name="Google Shape;165;p24"/>
          <p:cNvSpPr txBox="1"/>
          <p:nvPr/>
        </p:nvSpPr>
        <p:spPr>
          <a:xfrm>
            <a:off x="5696100" y="4728000"/>
            <a:ext cx="34479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500">
                <a:solidFill>
                  <a:schemeClr val="dk1"/>
                </a:solidFill>
                <a:latin typeface="Average"/>
                <a:ea typeface="Average"/>
                <a:cs typeface="Average"/>
                <a:sym typeface="Average"/>
              </a:rPr>
              <a:t>Mariia-Olena Zhupnyk - </a:t>
            </a:r>
            <a:r>
              <a:rPr lang="en" sz="700">
                <a:solidFill>
                  <a:schemeClr val="dk1"/>
                </a:solidFill>
                <a:latin typeface="Average"/>
                <a:ea typeface="Average"/>
                <a:cs typeface="Average"/>
                <a:sym typeface="Average"/>
              </a:rPr>
              <a:t>Apr 21, 2025</a:t>
            </a:r>
            <a:endParaRPr sz="700">
              <a:solidFill>
                <a:schemeClr val="dk1"/>
              </a:solidFill>
              <a:latin typeface="Average"/>
              <a:ea typeface="Average"/>
              <a:cs typeface="Average"/>
              <a:sym typeface="Average"/>
            </a:endParaRPr>
          </a:p>
        </p:txBody>
      </p:sp>
      <p:pic>
        <p:nvPicPr>
          <p:cNvPr id="166" name="Google Shape;166;p24"/>
          <p:cNvPicPr preferRelativeResize="0"/>
          <p:nvPr/>
        </p:nvPicPr>
        <p:blipFill>
          <a:blip r:embed="rId3">
            <a:alphaModFix/>
          </a:blip>
          <a:stretch>
            <a:fillRect/>
          </a:stretch>
        </p:blipFill>
        <p:spPr>
          <a:xfrm>
            <a:off x="458050" y="1961050"/>
            <a:ext cx="4331275" cy="2916676"/>
          </a:xfrm>
          <a:prstGeom prst="rect">
            <a:avLst/>
          </a:prstGeom>
          <a:noFill/>
          <a:ln>
            <a:noFill/>
          </a:ln>
        </p:spPr>
      </p:pic>
      <p:pic>
        <p:nvPicPr>
          <p:cNvPr id="167" name="Google Shape;167;p24"/>
          <p:cNvPicPr preferRelativeResize="0"/>
          <p:nvPr/>
        </p:nvPicPr>
        <p:blipFill>
          <a:blip r:embed="rId4">
            <a:alphaModFix/>
          </a:blip>
          <a:stretch>
            <a:fillRect/>
          </a:stretch>
        </p:blipFill>
        <p:spPr>
          <a:xfrm>
            <a:off x="4902100" y="2101900"/>
            <a:ext cx="3792501" cy="2524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idx="4294967295" type="title"/>
          </p:nvPr>
        </p:nvSpPr>
        <p:spPr>
          <a:xfrm>
            <a:off x="311700" y="2837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Wind Turbine Capacity by State (% of Total) Map</a:t>
            </a:r>
            <a:endParaRPr/>
          </a:p>
        </p:txBody>
      </p:sp>
      <p:sp>
        <p:nvSpPr>
          <p:cNvPr id="173" name="Google Shape;173;p25"/>
          <p:cNvSpPr txBox="1"/>
          <p:nvPr>
            <p:ph idx="4294967295" type="body"/>
          </p:nvPr>
        </p:nvSpPr>
        <p:spPr>
          <a:xfrm>
            <a:off x="311700" y="856400"/>
            <a:ext cx="8382900" cy="7926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Char char="➔"/>
            </a:pPr>
            <a:r>
              <a:rPr b="1" lang="en" sz="1100">
                <a:solidFill>
                  <a:schemeClr val="dk2"/>
                </a:solidFill>
              </a:rPr>
              <a:t>This interactive choropleth map visualizes each U.S. state's contribution to total wind turbine capacity.</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 Texas leads with 33 million kW, making up nearly 27% of the total U.S. capacity.</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 Brighter colors indicate higher contributions, while darker shades show lower capacity.</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This view helps identify geographic patterns and leadership in wind energy adoption.</a:t>
            </a:r>
            <a:endParaRPr b="1" sz="1100">
              <a:solidFill>
                <a:schemeClr val="dk2"/>
              </a:solidFill>
            </a:endParaRPr>
          </a:p>
        </p:txBody>
      </p:sp>
      <p:sp>
        <p:nvSpPr>
          <p:cNvPr id="174" name="Google Shape;174;p25"/>
          <p:cNvSpPr txBox="1"/>
          <p:nvPr/>
        </p:nvSpPr>
        <p:spPr>
          <a:xfrm>
            <a:off x="5696100" y="4728000"/>
            <a:ext cx="34479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500">
                <a:solidFill>
                  <a:schemeClr val="dk1"/>
                </a:solidFill>
                <a:latin typeface="Average"/>
                <a:ea typeface="Average"/>
                <a:cs typeface="Average"/>
                <a:sym typeface="Average"/>
              </a:rPr>
              <a:t>Mariia-Olena Zhupnyk - </a:t>
            </a:r>
            <a:r>
              <a:rPr lang="en" sz="700">
                <a:solidFill>
                  <a:schemeClr val="dk1"/>
                </a:solidFill>
                <a:latin typeface="Average"/>
                <a:ea typeface="Average"/>
                <a:cs typeface="Average"/>
                <a:sym typeface="Average"/>
              </a:rPr>
              <a:t>Apr 21, 2025</a:t>
            </a:r>
            <a:endParaRPr sz="700">
              <a:solidFill>
                <a:schemeClr val="dk1"/>
              </a:solidFill>
              <a:latin typeface="Average"/>
              <a:ea typeface="Average"/>
              <a:cs typeface="Average"/>
              <a:sym typeface="Average"/>
            </a:endParaRPr>
          </a:p>
        </p:txBody>
      </p:sp>
      <p:pic>
        <p:nvPicPr>
          <p:cNvPr id="175" name="Google Shape;175;p25"/>
          <p:cNvPicPr preferRelativeResize="0"/>
          <p:nvPr/>
        </p:nvPicPr>
        <p:blipFill>
          <a:blip r:embed="rId3">
            <a:alphaModFix/>
          </a:blip>
          <a:stretch>
            <a:fillRect/>
          </a:stretch>
        </p:blipFill>
        <p:spPr>
          <a:xfrm>
            <a:off x="1941225" y="1835650"/>
            <a:ext cx="5123875" cy="2684625"/>
          </a:xfrm>
          <a:prstGeom prst="rect">
            <a:avLst/>
          </a:prstGeom>
          <a:noFill/>
          <a:ln>
            <a:noFill/>
          </a:ln>
        </p:spPr>
      </p:pic>
      <p:sp>
        <p:nvSpPr>
          <p:cNvPr id="176" name="Google Shape;176;p25">
            <a:hlinkClick r:id="rId4"/>
          </p:cNvPr>
          <p:cNvSpPr txBox="1"/>
          <p:nvPr/>
        </p:nvSpPr>
        <p:spPr>
          <a:xfrm>
            <a:off x="2532900" y="4555725"/>
            <a:ext cx="3940500" cy="21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hlink"/>
                </a:solidFill>
                <a:latin typeface="Average"/>
                <a:ea typeface="Average"/>
                <a:cs typeface="Average"/>
                <a:sym typeface="Average"/>
                <a:hlinkClick r:id="rId5"/>
              </a:rPr>
              <a:t>Interactive Map of Wind Turbine Capacity </a:t>
            </a:r>
            <a:r>
              <a:rPr lang="en" sz="1100">
                <a:solidFill>
                  <a:schemeClr val="hlink"/>
                </a:solidFill>
                <a:uFill>
                  <a:noFill/>
                </a:uFill>
                <a:latin typeface="Average"/>
                <a:ea typeface="Average"/>
                <a:cs typeface="Average"/>
                <a:sym typeface="Average"/>
                <a:hlinkClick r:id="rId6"/>
              </a:rPr>
              <a:t>by </a:t>
            </a:r>
            <a:r>
              <a:rPr lang="en" sz="1100" u="sng">
                <a:solidFill>
                  <a:schemeClr val="hlink"/>
                </a:solidFill>
                <a:latin typeface="Average"/>
                <a:ea typeface="Average"/>
                <a:cs typeface="Average"/>
                <a:sym typeface="Average"/>
                <a:hlinkClick r:id="rId7"/>
              </a:rPr>
              <a:t>State (% of Total)</a:t>
            </a:r>
            <a:endParaRPr sz="1100">
              <a:solidFill>
                <a:schemeClr val="accent5"/>
              </a:solidFill>
              <a:latin typeface="Average"/>
              <a:ea typeface="Average"/>
              <a:cs typeface="Average"/>
              <a:sym typeface="Averag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Insights and Key Takeaways</a:t>
            </a:r>
            <a:endParaRPr/>
          </a:p>
        </p:txBody>
      </p:sp>
      <p:grpSp>
        <p:nvGrpSpPr>
          <p:cNvPr id="182" name="Google Shape;182;p26"/>
          <p:cNvGrpSpPr/>
          <p:nvPr/>
        </p:nvGrpSpPr>
        <p:grpSpPr>
          <a:xfrm>
            <a:off x="424825" y="1253973"/>
            <a:ext cx="8294372" cy="799416"/>
            <a:chOff x="424813" y="1177875"/>
            <a:chExt cx="8294372" cy="849900"/>
          </a:xfrm>
        </p:grpSpPr>
        <p:sp>
          <p:nvSpPr>
            <p:cNvPr id="183" name="Google Shape;183;p26"/>
            <p:cNvSpPr/>
            <p:nvPr/>
          </p:nvSpPr>
          <p:spPr>
            <a:xfrm>
              <a:off x="2927684" y="1177875"/>
              <a:ext cx="5791500" cy="849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6"/>
            <p:cNvSpPr/>
            <p:nvPr/>
          </p:nvSpPr>
          <p:spPr>
            <a:xfrm>
              <a:off x="424813" y="1177875"/>
              <a:ext cx="3055800" cy="849900"/>
            </a:xfrm>
            <a:prstGeom prst="homePlate">
              <a:avLst>
                <a:gd fmla="val 2671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5" name="Google Shape;185;p26"/>
          <p:cNvSpPr txBox="1"/>
          <p:nvPr>
            <p:ph idx="4294967295" type="body"/>
          </p:nvPr>
        </p:nvSpPr>
        <p:spPr>
          <a:xfrm>
            <a:off x="539675" y="1254200"/>
            <a:ext cx="2422500" cy="7992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lt1"/>
                </a:solidFill>
              </a:rPr>
              <a:t>Deliverable 1</a:t>
            </a:r>
            <a:endParaRPr>
              <a:solidFill>
                <a:schemeClr val="lt1"/>
              </a:solidFill>
            </a:endParaRPr>
          </a:p>
        </p:txBody>
      </p:sp>
      <p:sp>
        <p:nvSpPr>
          <p:cNvPr id="186" name="Google Shape;186;p26"/>
          <p:cNvSpPr txBox="1"/>
          <p:nvPr>
            <p:ph idx="4294967295" type="body"/>
          </p:nvPr>
        </p:nvSpPr>
        <p:spPr>
          <a:xfrm>
            <a:off x="3480453" y="1254158"/>
            <a:ext cx="5111700" cy="799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lt1"/>
                </a:solidFill>
              </a:rPr>
              <a:t>Texas is the undisputed leader in wind energy, contributing over 26% of the total U.S. turbine capacity — more than double that of any other state.</a:t>
            </a:r>
            <a:endParaRPr sz="1400">
              <a:solidFill>
                <a:schemeClr val="lt1"/>
              </a:solidFill>
            </a:endParaRPr>
          </a:p>
        </p:txBody>
      </p:sp>
      <p:grpSp>
        <p:nvGrpSpPr>
          <p:cNvPr id="187" name="Google Shape;187;p26"/>
          <p:cNvGrpSpPr/>
          <p:nvPr/>
        </p:nvGrpSpPr>
        <p:grpSpPr>
          <a:xfrm>
            <a:off x="424825" y="2127339"/>
            <a:ext cx="8294360" cy="799416"/>
            <a:chOff x="424813" y="2075689"/>
            <a:chExt cx="8294360" cy="849900"/>
          </a:xfrm>
        </p:grpSpPr>
        <p:sp>
          <p:nvSpPr>
            <p:cNvPr id="188" name="Google Shape;188;p26"/>
            <p:cNvSpPr/>
            <p:nvPr/>
          </p:nvSpPr>
          <p:spPr>
            <a:xfrm>
              <a:off x="2927672" y="2075689"/>
              <a:ext cx="5791500" cy="849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6"/>
            <p:cNvSpPr/>
            <p:nvPr/>
          </p:nvSpPr>
          <p:spPr>
            <a:xfrm>
              <a:off x="424813" y="2075689"/>
              <a:ext cx="3055800" cy="849900"/>
            </a:xfrm>
            <a:prstGeom prst="homePlate">
              <a:avLst>
                <a:gd fmla="val 2671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0" name="Google Shape;190;p26"/>
          <p:cNvSpPr txBox="1"/>
          <p:nvPr>
            <p:ph idx="4294967295" type="body"/>
          </p:nvPr>
        </p:nvSpPr>
        <p:spPr>
          <a:xfrm>
            <a:off x="539675" y="2127450"/>
            <a:ext cx="2422500" cy="7992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lt1"/>
                </a:solidFill>
              </a:rPr>
              <a:t>Deliverable 2</a:t>
            </a:r>
            <a:endParaRPr>
              <a:solidFill>
                <a:schemeClr val="lt1"/>
              </a:solidFill>
            </a:endParaRPr>
          </a:p>
        </p:txBody>
      </p:sp>
      <p:sp>
        <p:nvSpPr>
          <p:cNvPr id="191" name="Google Shape;191;p26"/>
          <p:cNvSpPr txBox="1"/>
          <p:nvPr>
            <p:ph idx="4294967295" type="body"/>
          </p:nvPr>
        </p:nvSpPr>
        <p:spPr>
          <a:xfrm>
            <a:off x="3480453" y="2127465"/>
            <a:ext cx="5111700" cy="799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chemeClr val="lt1"/>
                </a:solidFill>
              </a:rPr>
              <a:t>Wind energy development is highly concentrated in the Midwest and Central U.S., especially in states like Iowa, Oklahoma, and Kansas, which benefit from favorable wind conditions and land availability.</a:t>
            </a:r>
            <a:endParaRPr sz="1300">
              <a:solidFill>
                <a:schemeClr val="lt1"/>
              </a:solidFill>
            </a:endParaRPr>
          </a:p>
        </p:txBody>
      </p:sp>
      <p:grpSp>
        <p:nvGrpSpPr>
          <p:cNvPr id="192" name="Google Shape;192;p26"/>
          <p:cNvGrpSpPr/>
          <p:nvPr/>
        </p:nvGrpSpPr>
        <p:grpSpPr>
          <a:xfrm>
            <a:off x="424825" y="3000705"/>
            <a:ext cx="8294360" cy="799447"/>
            <a:chOff x="424813" y="2974405"/>
            <a:chExt cx="8294360" cy="849933"/>
          </a:xfrm>
        </p:grpSpPr>
        <p:sp>
          <p:nvSpPr>
            <p:cNvPr id="193" name="Google Shape;193;p26"/>
            <p:cNvSpPr/>
            <p:nvPr/>
          </p:nvSpPr>
          <p:spPr>
            <a:xfrm>
              <a:off x="2927672" y="2974438"/>
              <a:ext cx="5791500" cy="849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6"/>
            <p:cNvSpPr/>
            <p:nvPr/>
          </p:nvSpPr>
          <p:spPr>
            <a:xfrm>
              <a:off x="424813" y="2974405"/>
              <a:ext cx="3055800" cy="849900"/>
            </a:xfrm>
            <a:prstGeom prst="homePlate">
              <a:avLst>
                <a:gd fmla="val 2671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5" name="Google Shape;195;p26"/>
          <p:cNvSpPr txBox="1"/>
          <p:nvPr>
            <p:ph idx="4294967295" type="body"/>
          </p:nvPr>
        </p:nvSpPr>
        <p:spPr>
          <a:xfrm>
            <a:off x="539675" y="3000775"/>
            <a:ext cx="2422500" cy="7992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lt1"/>
                </a:solidFill>
              </a:rPr>
              <a:t>Deliverable 3</a:t>
            </a:r>
            <a:endParaRPr>
              <a:solidFill>
                <a:schemeClr val="lt1"/>
              </a:solidFill>
            </a:endParaRPr>
          </a:p>
        </p:txBody>
      </p:sp>
      <p:sp>
        <p:nvSpPr>
          <p:cNvPr id="196" name="Google Shape;196;p26"/>
          <p:cNvSpPr txBox="1"/>
          <p:nvPr>
            <p:ph idx="4294967295" type="body"/>
          </p:nvPr>
        </p:nvSpPr>
        <p:spPr>
          <a:xfrm>
            <a:off x="3480453" y="3004317"/>
            <a:ext cx="5111700" cy="799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chemeClr val="lt1"/>
                </a:solidFill>
              </a:rPr>
              <a:t>Southern and Southeastern states show minimal wind energy adoption, highlighting potential gaps in infrastructure, policy, or geography that could be targeted for development.</a:t>
            </a:r>
            <a:endParaRPr sz="1300">
              <a:solidFill>
                <a:schemeClr val="lt1"/>
              </a:solidFill>
            </a:endParaRPr>
          </a:p>
        </p:txBody>
      </p:sp>
      <p:grpSp>
        <p:nvGrpSpPr>
          <p:cNvPr id="197" name="Google Shape;197;p26"/>
          <p:cNvGrpSpPr/>
          <p:nvPr/>
        </p:nvGrpSpPr>
        <p:grpSpPr>
          <a:xfrm>
            <a:off x="424825" y="3874103"/>
            <a:ext cx="8294360" cy="799447"/>
            <a:chOff x="424813" y="3871259"/>
            <a:chExt cx="8294360" cy="849933"/>
          </a:xfrm>
        </p:grpSpPr>
        <p:sp>
          <p:nvSpPr>
            <p:cNvPr id="198" name="Google Shape;198;p26"/>
            <p:cNvSpPr/>
            <p:nvPr/>
          </p:nvSpPr>
          <p:spPr>
            <a:xfrm>
              <a:off x="2927672" y="3871292"/>
              <a:ext cx="5791500" cy="849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6"/>
            <p:cNvSpPr/>
            <p:nvPr/>
          </p:nvSpPr>
          <p:spPr>
            <a:xfrm>
              <a:off x="424813" y="3871259"/>
              <a:ext cx="3055800" cy="849900"/>
            </a:xfrm>
            <a:prstGeom prst="homePlate">
              <a:avLst>
                <a:gd fmla="val 2671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 name="Google Shape;200;p26"/>
          <p:cNvSpPr txBox="1"/>
          <p:nvPr>
            <p:ph idx="4294967295" type="body"/>
          </p:nvPr>
        </p:nvSpPr>
        <p:spPr>
          <a:xfrm>
            <a:off x="539675" y="3874100"/>
            <a:ext cx="2422500" cy="7992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lt1"/>
                </a:solidFill>
              </a:rPr>
              <a:t>Deliverable 4</a:t>
            </a:r>
            <a:endParaRPr>
              <a:solidFill>
                <a:schemeClr val="lt1"/>
              </a:solidFill>
            </a:endParaRPr>
          </a:p>
        </p:txBody>
      </p:sp>
      <p:sp>
        <p:nvSpPr>
          <p:cNvPr id="201" name="Google Shape;201;p26"/>
          <p:cNvSpPr txBox="1"/>
          <p:nvPr>
            <p:ph idx="4294967295" type="body"/>
          </p:nvPr>
        </p:nvSpPr>
        <p:spPr>
          <a:xfrm>
            <a:off x="3480453" y="3876311"/>
            <a:ext cx="5111700" cy="799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solidFill>
                  <a:schemeClr val="lt1"/>
                </a:solidFill>
              </a:rPr>
              <a:t>The number of wind turbines installed annually peaked in the 2010s, showing a rapid expansion phase — a key trend for forecasting future growth or policy impact.</a:t>
            </a:r>
            <a:endParaRPr sz="13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grpSp>
        <p:nvGrpSpPr>
          <p:cNvPr id="206" name="Google Shape;206;p27"/>
          <p:cNvGrpSpPr/>
          <p:nvPr/>
        </p:nvGrpSpPr>
        <p:grpSpPr>
          <a:xfrm>
            <a:off x="472738" y="477516"/>
            <a:ext cx="5624071" cy="585761"/>
            <a:chOff x="6448870" y="3733723"/>
            <a:chExt cx="2453355" cy="351302"/>
          </a:xfrm>
        </p:grpSpPr>
        <p:sp>
          <p:nvSpPr>
            <p:cNvPr id="207" name="Google Shape;207;p27"/>
            <p:cNvSpPr/>
            <p:nvPr/>
          </p:nvSpPr>
          <p:spPr>
            <a:xfrm>
              <a:off x="6448870" y="3733723"/>
              <a:ext cx="1768500" cy="351300"/>
            </a:xfrm>
            <a:prstGeom prst="homePlat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600">
                  <a:solidFill>
                    <a:schemeClr val="lt1"/>
                  </a:solidFill>
                  <a:latin typeface="Oswald"/>
                  <a:ea typeface="Oswald"/>
                  <a:cs typeface="Oswald"/>
                  <a:sym typeface="Oswald"/>
                </a:rPr>
                <a:t>Business Recommendations:</a:t>
              </a:r>
              <a:endParaRPr sz="2600">
                <a:solidFill>
                  <a:schemeClr val="lt1"/>
                </a:solidFill>
                <a:latin typeface="Oswald"/>
                <a:ea typeface="Oswald"/>
                <a:cs typeface="Oswald"/>
                <a:sym typeface="Oswald"/>
              </a:endParaRPr>
            </a:p>
          </p:txBody>
        </p:sp>
        <p:sp>
          <p:nvSpPr>
            <p:cNvPr id="208" name="Google Shape;208;p27"/>
            <p:cNvSpPr/>
            <p:nvPr/>
          </p:nvSpPr>
          <p:spPr>
            <a:xfrm>
              <a:off x="8098525" y="3733725"/>
              <a:ext cx="346500" cy="351300"/>
            </a:xfrm>
            <a:prstGeom prst="chevron">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7"/>
            <p:cNvSpPr/>
            <p:nvPr/>
          </p:nvSpPr>
          <p:spPr>
            <a:xfrm>
              <a:off x="8327125" y="3733725"/>
              <a:ext cx="346500" cy="351300"/>
            </a:xfrm>
            <a:prstGeom prst="chevron">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7"/>
            <p:cNvSpPr/>
            <p:nvPr/>
          </p:nvSpPr>
          <p:spPr>
            <a:xfrm>
              <a:off x="8555725" y="3733725"/>
              <a:ext cx="346500" cy="351300"/>
            </a:xfrm>
            <a:prstGeom prst="chevron">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 name="Google Shape;211;p27"/>
          <p:cNvSpPr txBox="1"/>
          <p:nvPr>
            <p:ph idx="4294967295" type="body"/>
          </p:nvPr>
        </p:nvSpPr>
        <p:spPr>
          <a:xfrm>
            <a:off x="4573325" y="2912300"/>
            <a:ext cx="25686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Advanced projects</a:t>
            </a:r>
            <a:endParaRPr>
              <a:solidFill>
                <a:schemeClr val="lt1"/>
              </a:solidFill>
            </a:endParaRPr>
          </a:p>
        </p:txBody>
      </p:sp>
      <p:sp>
        <p:nvSpPr>
          <p:cNvPr id="212" name="Google Shape;212;p27"/>
          <p:cNvSpPr txBox="1"/>
          <p:nvPr/>
        </p:nvSpPr>
        <p:spPr>
          <a:xfrm>
            <a:off x="488250" y="1631875"/>
            <a:ext cx="8167500" cy="2886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accent3"/>
              </a:buClr>
              <a:buSzPts val="1600"/>
              <a:buFont typeface="Average"/>
              <a:buChar char="➔"/>
            </a:pPr>
            <a:r>
              <a:rPr lang="en" sz="1600">
                <a:solidFill>
                  <a:schemeClr val="accent3"/>
                </a:solidFill>
                <a:latin typeface="Average"/>
                <a:ea typeface="Average"/>
                <a:cs typeface="Average"/>
                <a:sym typeface="Average"/>
              </a:rPr>
              <a:t>Invest in high-capacity states (e.g., Texas, Iowa) to leverage existing infrastructure and workforce readiness.</a:t>
            </a:r>
            <a:endParaRPr sz="1600">
              <a:solidFill>
                <a:schemeClr val="accent3"/>
              </a:solidFill>
              <a:latin typeface="Average"/>
              <a:ea typeface="Average"/>
              <a:cs typeface="Average"/>
              <a:sym typeface="Average"/>
            </a:endParaRPr>
          </a:p>
          <a:p>
            <a:pPr indent="-330200" lvl="0" marL="457200" rtl="0" algn="l">
              <a:spcBef>
                <a:spcPts val="0"/>
              </a:spcBef>
              <a:spcAft>
                <a:spcPts val="0"/>
              </a:spcAft>
              <a:buClr>
                <a:schemeClr val="accent3"/>
              </a:buClr>
              <a:buSzPts val="1600"/>
              <a:buFont typeface="Average"/>
              <a:buChar char="➔"/>
            </a:pPr>
            <a:r>
              <a:rPr lang="en" sz="1600">
                <a:solidFill>
                  <a:schemeClr val="accent3"/>
                </a:solidFill>
                <a:latin typeface="Average"/>
                <a:ea typeface="Average"/>
                <a:cs typeface="Average"/>
                <a:sym typeface="Average"/>
              </a:rPr>
              <a:t>Explore underserved states (e.g., Alabama, Louisiana) to pioneer wind energy services where competition is low.</a:t>
            </a:r>
            <a:endParaRPr sz="1600">
              <a:solidFill>
                <a:schemeClr val="accent3"/>
              </a:solidFill>
              <a:latin typeface="Average"/>
              <a:ea typeface="Average"/>
              <a:cs typeface="Average"/>
              <a:sym typeface="Average"/>
            </a:endParaRPr>
          </a:p>
          <a:p>
            <a:pPr indent="-330200" lvl="0" marL="457200" rtl="0" algn="l">
              <a:spcBef>
                <a:spcPts val="0"/>
              </a:spcBef>
              <a:spcAft>
                <a:spcPts val="0"/>
              </a:spcAft>
              <a:buClr>
                <a:schemeClr val="accent3"/>
              </a:buClr>
              <a:buSzPts val="1600"/>
              <a:buFont typeface="Average"/>
              <a:buChar char="➔"/>
            </a:pPr>
            <a:r>
              <a:rPr lang="en" sz="1600">
                <a:solidFill>
                  <a:schemeClr val="accent3"/>
                </a:solidFill>
                <a:latin typeface="Average"/>
                <a:ea typeface="Average"/>
                <a:cs typeface="Average"/>
                <a:sym typeface="Average"/>
              </a:rPr>
              <a:t>Develop location-based service models using turbine data (maintenance, analytics, drone inspection).</a:t>
            </a:r>
            <a:endParaRPr sz="1600">
              <a:solidFill>
                <a:schemeClr val="accent3"/>
              </a:solidFill>
              <a:latin typeface="Average"/>
              <a:ea typeface="Average"/>
              <a:cs typeface="Average"/>
              <a:sym typeface="Average"/>
            </a:endParaRPr>
          </a:p>
          <a:p>
            <a:pPr indent="-330200" lvl="0" marL="457200" rtl="0" algn="l">
              <a:spcBef>
                <a:spcPts val="0"/>
              </a:spcBef>
              <a:spcAft>
                <a:spcPts val="0"/>
              </a:spcAft>
              <a:buClr>
                <a:schemeClr val="accent3"/>
              </a:buClr>
              <a:buSzPts val="1600"/>
              <a:buFont typeface="Average"/>
              <a:buChar char="➔"/>
            </a:pPr>
            <a:r>
              <a:rPr lang="en" sz="1600">
                <a:solidFill>
                  <a:schemeClr val="accent3"/>
                </a:solidFill>
                <a:latin typeface="Average"/>
                <a:ea typeface="Average"/>
                <a:cs typeface="Average"/>
                <a:sym typeface="Average"/>
              </a:rPr>
              <a:t>Collaborate with policymakers in emerging regions to shape incentives and regulatory frameworks.</a:t>
            </a:r>
            <a:endParaRPr sz="1600">
              <a:solidFill>
                <a:schemeClr val="accent3"/>
              </a:solidFill>
              <a:latin typeface="Average"/>
              <a:ea typeface="Average"/>
              <a:cs typeface="Average"/>
              <a:sym typeface="Average"/>
            </a:endParaRPr>
          </a:p>
          <a:p>
            <a:pPr indent="-330200" lvl="0" marL="457200" rtl="0" algn="l">
              <a:spcBef>
                <a:spcPts val="0"/>
              </a:spcBef>
              <a:spcAft>
                <a:spcPts val="0"/>
              </a:spcAft>
              <a:buClr>
                <a:schemeClr val="accent3"/>
              </a:buClr>
              <a:buSzPts val="1600"/>
              <a:buFont typeface="Average"/>
              <a:buChar char="➔"/>
            </a:pPr>
            <a:r>
              <a:rPr lang="en" sz="1600">
                <a:solidFill>
                  <a:schemeClr val="accent3"/>
                </a:solidFill>
                <a:latin typeface="Average"/>
                <a:ea typeface="Average"/>
                <a:cs typeface="Average"/>
                <a:sym typeface="Average"/>
              </a:rPr>
              <a:t>Use data storytelling (like this project) to pitch renewable strategies to stakeholders and clients.</a:t>
            </a:r>
            <a:endParaRPr sz="1600">
              <a:solidFill>
                <a:schemeClr val="accent3"/>
              </a:solidFill>
              <a:latin typeface="Average"/>
              <a:ea typeface="Average"/>
              <a:cs typeface="Average"/>
              <a:sym typeface="Averag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p:nvPr/>
        </p:nvSpPr>
        <p:spPr>
          <a:xfrm>
            <a:off x="0" y="0"/>
            <a:ext cx="9161100" cy="2484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8"/>
          <p:cNvSpPr txBox="1"/>
          <p:nvPr>
            <p:ph idx="4294967295" type="title"/>
          </p:nvPr>
        </p:nvSpPr>
        <p:spPr>
          <a:xfrm>
            <a:off x="311700" y="1077200"/>
            <a:ext cx="8520600" cy="73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rPr>
              <a:t> Thank You!</a:t>
            </a:r>
            <a:endParaRPr>
              <a:solidFill>
                <a:schemeClr val="lt1"/>
              </a:solidFill>
            </a:endParaRPr>
          </a:p>
        </p:txBody>
      </p:sp>
      <p:sp>
        <p:nvSpPr>
          <p:cNvPr id="219" name="Google Shape;219;p28"/>
          <p:cNvSpPr txBox="1"/>
          <p:nvPr/>
        </p:nvSpPr>
        <p:spPr>
          <a:xfrm>
            <a:off x="2250000" y="2752625"/>
            <a:ext cx="4661100" cy="73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accent3"/>
                </a:solidFill>
                <a:latin typeface="Average"/>
                <a:ea typeface="Average"/>
                <a:cs typeface="Average"/>
                <a:sym typeface="Average"/>
              </a:rPr>
              <a:t>Contact: </a:t>
            </a:r>
            <a:endParaRPr sz="1200">
              <a:solidFill>
                <a:schemeClr val="accent3"/>
              </a:solidFill>
              <a:latin typeface="Average"/>
              <a:ea typeface="Average"/>
              <a:cs typeface="Average"/>
              <a:sym typeface="Average"/>
            </a:endParaRPr>
          </a:p>
          <a:p>
            <a:pPr indent="-304800" lvl="0" marL="457200" rtl="0" algn="l">
              <a:spcBef>
                <a:spcPts val="0"/>
              </a:spcBef>
              <a:spcAft>
                <a:spcPts val="0"/>
              </a:spcAft>
              <a:buSzPts val="1200"/>
              <a:buFont typeface="Average"/>
              <a:buChar char="➔"/>
            </a:pPr>
            <a:r>
              <a:rPr lang="en" sz="1200">
                <a:solidFill>
                  <a:schemeClr val="accent3"/>
                </a:solidFill>
                <a:latin typeface="Average"/>
                <a:ea typeface="Average"/>
                <a:cs typeface="Average"/>
                <a:sym typeface="Average"/>
              </a:rPr>
              <a:t>GitHub: </a:t>
            </a:r>
            <a:r>
              <a:rPr lang="en" sz="1200" u="sng">
                <a:solidFill>
                  <a:schemeClr val="hlink"/>
                </a:solidFill>
                <a:latin typeface="Average"/>
                <a:ea typeface="Average"/>
                <a:cs typeface="Average"/>
                <a:sym typeface="Average"/>
                <a:hlinkClick r:id="rId3"/>
              </a:rPr>
              <a:t>https://github.com/helenzhupnyk</a:t>
            </a:r>
            <a:endParaRPr sz="1200">
              <a:solidFill>
                <a:schemeClr val="accent3"/>
              </a:solidFill>
              <a:latin typeface="Average"/>
              <a:ea typeface="Average"/>
              <a:cs typeface="Average"/>
              <a:sym typeface="Average"/>
            </a:endParaRPr>
          </a:p>
          <a:p>
            <a:pPr indent="-304800" lvl="0" marL="457200" rtl="0" algn="l">
              <a:spcBef>
                <a:spcPts val="0"/>
              </a:spcBef>
              <a:spcAft>
                <a:spcPts val="0"/>
              </a:spcAft>
              <a:buSzPts val="1200"/>
              <a:buFont typeface="Average"/>
              <a:buChar char="➔"/>
            </a:pPr>
            <a:r>
              <a:rPr lang="en" sz="1200">
                <a:solidFill>
                  <a:schemeClr val="accent3"/>
                </a:solidFill>
                <a:latin typeface="Average"/>
                <a:ea typeface="Average"/>
                <a:cs typeface="Average"/>
                <a:sym typeface="Average"/>
              </a:rPr>
              <a:t>Linkedin: </a:t>
            </a:r>
            <a:r>
              <a:rPr lang="en" sz="1200" u="sng">
                <a:solidFill>
                  <a:schemeClr val="hlink"/>
                </a:solidFill>
                <a:latin typeface="Average"/>
                <a:ea typeface="Average"/>
                <a:cs typeface="Average"/>
                <a:sym typeface="Average"/>
                <a:hlinkClick r:id="rId4"/>
              </a:rPr>
              <a:t>https://www.linkedin.com/in/helenzhupnyk/</a:t>
            </a:r>
            <a:endParaRPr sz="1200">
              <a:solidFill>
                <a:schemeClr val="accent3"/>
              </a:solidFill>
              <a:latin typeface="Average"/>
              <a:ea typeface="Average"/>
              <a:cs typeface="Average"/>
              <a:sym typeface="Average"/>
            </a:endParaRPr>
          </a:p>
          <a:p>
            <a:pPr indent="-304800" lvl="0" marL="457200" rtl="0" algn="l">
              <a:spcBef>
                <a:spcPts val="0"/>
              </a:spcBef>
              <a:spcAft>
                <a:spcPts val="0"/>
              </a:spcAft>
              <a:buSzPts val="1200"/>
              <a:buFont typeface="Average"/>
              <a:buChar char="➔"/>
            </a:pPr>
            <a:r>
              <a:rPr lang="en" sz="1200">
                <a:solidFill>
                  <a:schemeClr val="accent3"/>
                </a:solidFill>
                <a:latin typeface="Average"/>
                <a:ea typeface="Average"/>
                <a:cs typeface="Average"/>
                <a:sym typeface="Average"/>
              </a:rPr>
              <a:t>Email: </a:t>
            </a:r>
            <a:r>
              <a:rPr lang="en" sz="1200" u="sng">
                <a:solidFill>
                  <a:schemeClr val="hlink"/>
                </a:solidFill>
                <a:latin typeface="Average"/>
                <a:ea typeface="Average"/>
                <a:cs typeface="Average"/>
                <a:sym typeface="Average"/>
                <a:hlinkClick r:id="rId5"/>
              </a:rPr>
              <a:t>mariia.olena.zhupnyk@gmail.com</a:t>
            </a:r>
            <a:endParaRPr sz="1200">
              <a:solidFill>
                <a:schemeClr val="accent3"/>
              </a:solidFill>
              <a:latin typeface="Average"/>
              <a:ea typeface="Average"/>
              <a:cs typeface="Average"/>
              <a:sym typeface="Average"/>
            </a:endParaRPr>
          </a:p>
          <a:p>
            <a:pPr indent="0" lvl="0" marL="0" rtl="0" algn="l">
              <a:spcBef>
                <a:spcPts val="0"/>
              </a:spcBef>
              <a:spcAft>
                <a:spcPts val="0"/>
              </a:spcAft>
              <a:buNone/>
            </a:pPr>
            <a:r>
              <a:t/>
            </a:r>
            <a:endParaRPr sz="1200">
              <a:solidFill>
                <a:schemeClr val="accent3"/>
              </a:solidFill>
              <a:latin typeface="Average"/>
              <a:ea typeface="Average"/>
              <a:cs typeface="Average"/>
              <a:sym typeface="Average"/>
            </a:endParaRPr>
          </a:p>
        </p:txBody>
      </p:sp>
      <p:sp>
        <p:nvSpPr>
          <p:cNvPr id="220" name="Google Shape;220;p28"/>
          <p:cNvSpPr txBox="1"/>
          <p:nvPr/>
        </p:nvSpPr>
        <p:spPr>
          <a:xfrm>
            <a:off x="2784750" y="4111025"/>
            <a:ext cx="3574500" cy="67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accent3"/>
                </a:solidFill>
                <a:latin typeface="Average"/>
                <a:ea typeface="Average"/>
                <a:cs typeface="Average"/>
                <a:sym typeface="Average"/>
              </a:rPr>
              <a:t>Questions? I'm happy to discuss the project.</a:t>
            </a:r>
            <a:endParaRPr>
              <a:solidFill>
                <a:schemeClr val="accent3"/>
              </a:solidFill>
              <a:latin typeface="Average"/>
              <a:ea typeface="Average"/>
              <a:cs typeface="Average"/>
              <a:sym typeface="Average"/>
            </a:endParaRPr>
          </a:p>
          <a:p>
            <a:pPr indent="0" lvl="0" marL="0" rtl="0" algn="l">
              <a:spcBef>
                <a:spcPts val="1200"/>
              </a:spcBef>
              <a:spcAft>
                <a:spcPts val="0"/>
              </a:spcAft>
              <a:buNone/>
            </a:pPr>
            <a:r>
              <a:t/>
            </a:r>
            <a:endParaRPr>
              <a:solidFill>
                <a:schemeClr val="accent3"/>
              </a:solidFill>
              <a:latin typeface="Average"/>
              <a:ea typeface="Average"/>
              <a:cs typeface="Average"/>
              <a:sym typeface="Averag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